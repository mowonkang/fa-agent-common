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54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deck_title"/>
          <p:cNvSpPr txBox="1"/>
          <p:nvPr/>
        </p:nvSpPr>
        <p:spPr>
          <a:xfrm>
            <a:off x="720000" y="19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{{ deck_title }}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720000" y="32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8883A"/>
                </a:solidFill>
              </a:rPr>
              <a:t>{{ subtitle }}</a:t>
            </a:r>
          </a:p>
        </p:txBody>
      </p:sp>
      <p:sp>
        <p:nvSpPr>
          <p:cNvPr id="6" name="cover_meta"/>
          <p:cNvSpPr txBox="1"/>
          <p:nvPr/>
        </p:nvSpPr>
        <p:spPr>
          <a:xfrm>
            <a:off x="720000" y="55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작성자 {{ author }}  |  작성일 {{ created_at }}  |  보고 대상 {{ audience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Executive Summary — 한 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C2B3A"/>
                </a:solidFill>
              </a:rPr>
              <a:t>FA 기술혁신 Agent 팀, 4가지 핵심 가치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224000"/>
            <a:ext cx="2736000" cy="234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ummary_card_1_header"/>
          <p:cNvSpPr/>
          <p:nvPr/>
        </p:nvSpPr>
        <p:spPr>
          <a:xfrm>
            <a:off x="360000" y="1224000"/>
            <a:ext cx="2736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① 5인 AI 협업조</a:t>
            </a:r>
          </a:p>
        </p:txBody>
      </p:sp>
      <p:sp>
        <p:nvSpPr>
          <p:cNvPr id="8" name="summary_card_1_body"/>
          <p:cNvSpPr txBox="1"/>
          <p:nvPr/>
        </p:nvSpPr>
        <p:spPr>
          <a:xfrm>
            <a:off x="432000" y="1656000"/>
            <a:ext cx="2591999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summary_pt1 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1999" y="1224000"/>
            <a:ext cx="2736000" cy="234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ummary_card_2_header"/>
          <p:cNvSpPr/>
          <p:nvPr/>
        </p:nvSpPr>
        <p:spPr>
          <a:xfrm>
            <a:off x="3311999" y="1224000"/>
            <a:ext cx="2736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② 출처 자동검증</a:t>
            </a:r>
          </a:p>
        </p:txBody>
      </p:sp>
      <p:sp>
        <p:nvSpPr>
          <p:cNvPr id="11" name="summary_card_2_body"/>
          <p:cNvSpPr txBox="1"/>
          <p:nvPr/>
        </p:nvSpPr>
        <p:spPr>
          <a:xfrm>
            <a:off x="3383999" y="1656000"/>
            <a:ext cx="2591999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summary_pt2 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1224000"/>
            <a:ext cx="2736000" cy="234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ummary_card_3_header"/>
          <p:cNvSpPr/>
          <p:nvPr/>
        </p:nvSpPr>
        <p:spPr>
          <a:xfrm>
            <a:off x="6263999" y="1224000"/>
            <a:ext cx="2736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③ 도메인 스킬 3개</a:t>
            </a:r>
          </a:p>
        </p:txBody>
      </p:sp>
      <p:sp>
        <p:nvSpPr>
          <p:cNvPr id="14" name="summary_card_3_body"/>
          <p:cNvSpPr txBox="1"/>
          <p:nvPr/>
        </p:nvSpPr>
        <p:spPr>
          <a:xfrm>
            <a:off x="6335999" y="1656000"/>
            <a:ext cx="2591999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summary_pt3 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6000" y="1224000"/>
            <a:ext cx="2736000" cy="234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ummary_card_4_header"/>
          <p:cNvSpPr/>
          <p:nvPr/>
        </p:nvSpPr>
        <p:spPr>
          <a:xfrm>
            <a:off x="9216000" y="1224000"/>
            <a:ext cx="2736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④ 즉시 적용 ROI</a:t>
            </a:r>
          </a:p>
        </p:txBody>
      </p:sp>
      <p:sp>
        <p:nvSpPr>
          <p:cNvPr id="17" name="summary_card_4_body"/>
          <p:cNvSpPr txBox="1"/>
          <p:nvPr/>
        </p:nvSpPr>
        <p:spPr>
          <a:xfrm>
            <a:off x="9287999" y="1656000"/>
            <a:ext cx="2591999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summary_pt4 }}</a:t>
            </a:r>
          </a:p>
        </p:txBody>
      </p:sp>
      <p:sp>
        <p:nvSpPr>
          <p:cNvPr id="18" name="summary_src"/>
          <p:cNvSpPr txBox="1"/>
          <p:nvPr/>
        </p:nvSpPr>
        <p:spPr>
          <a:xfrm>
            <a:off x="360000" y="61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summary_source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문제 정의 — 보고 업무의 비효율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00000"/>
            <a:ext cx="5400000" cy="360000"/>
          </a:xfrm>
          <a:prstGeom prst="rect">
            <a:avLst/>
          </a:prstGeom>
          <a:solidFill>
            <a:srgbClr val="FA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32000" y="954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C2B3A"/>
                </a:solidFill>
              </a:rPr>
              <a:t>Before — 기존 방식</a:t>
            </a:r>
          </a:p>
        </p:txBody>
      </p:sp>
      <p:sp>
        <p:nvSpPr>
          <p:cNvPr id="7" name="problem_before"/>
          <p:cNvSpPr txBox="1"/>
          <p:nvPr/>
        </p:nvSpPr>
        <p:spPr>
          <a:xfrm>
            <a:off x="360000" y="1332000"/>
            <a:ext cx="5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2D2D"/>
                </a:solidFill>
              </a:rPr>
              <a:t>{{ problem_before 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solidFill>
            <a:srgbClr val="EA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72000" y="954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C2B3A"/>
                </a:solidFill>
              </a:rPr>
              <a:t>After — Agent 팀 도입 후</a:t>
            </a:r>
          </a:p>
        </p:txBody>
      </p:sp>
      <p:sp>
        <p:nvSpPr>
          <p:cNvPr id="10" name="problem_after"/>
          <p:cNvSpPr txBox="1"/>
          <p:nvPr/>
        </p:nvSpPr>
        <p:spPr>
          <a:xfrm>
            <a:off x="6300000" y="1332000"/>
            <a:ext cx="54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2D2D"/>
                </a:solidFill>
              </a:rPr>
              <a:t>{{ problem_after }}</a:t>
            </a:r>
          </a:p>
        </p:txBody>
      </p:sp>
      <p:sp>
        <p:nvSpPr>
          <p:cNvPr id="11" name="problem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problem_source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기존 단일 에이전트 vs FA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900000"/>
          <a:ext cx="11448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000"/>
                <a:gridCol w="3816000"/>
                <a:gridCol w="3816000"/>
              </a:tblGrid>
              <a:tr h="93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관점</a:t>
                      </a:r>
                    </a:p>
                  </a:txBody>
                  <a:tcPr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기존 Subagents (단일 호출)</a:t>
                      </a:r>
                    </a:p>
                  </a:txBody>
                  <a:tcPr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FA Agent Teams (본 팀)</a:t>
                      </a:r>
                    </a:p>
                  </a:txBody>
                  <a:tcPr>
                    <a:solidFill>
                      <a:srgbClr val="1C2B3A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2D"/>
                          </a:solidFill>
                        </a:rPr>
                        <a:t>협업 구조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</a:rPr>
                        <a:t>{{ comp_left_1 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</a:rPr>
                        <a:t>{{ comp_right_1 }}</a:t>
                      </a:r>
                    </a:p>
                  </a:txBody>
                  <a:tcPr/>
                </a:tc>
              </a:tr>
              <a:tr h="93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2D"/>
                          </a:solidFill>
                        </a:rPr>
                        <a:t>통신 방식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</a:rPr>
                        <a:t>{{ comp_left_2 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</a:rPr>
                        <a:t>{{ comp_right_2 }}</a:t>
                      </a:r>
                    </a:p>
                  </a:txBody>
                  <a:tcPr/>
                </a:tc>
              </a:tr>
              <a:tr h="93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2D"/>
                          </a:solidFill>
                        </a:rPr>
                        <a:t>실행 모드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</a:rPr>
                        <a:t>{{ comp_left_3 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</a:rPr>
                        <a:t>{{ comp_right_3 }}</a:t>
                      </a:r>
                    </a:p>
                  </a:txBody>
                  <a:tcPr/>
                </a:tc>
              </a:tr>
              <a:tr h="93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2D2D"/>
                          </a:solidFill>
                        </a:rPr>
                        <a:t>품질 보장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</a:rPr>
                        <a:t>{{ comp_left_4 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</a:rPr>
                        <a:t>{{ comp_right_4 }}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omp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comparison_source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시스템 구성도 — 5 에이전트 + 3 스킬 + 2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0" y="827999"/>
            <a:ext cx="2160000" cy="432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arch_user"/>
          <p:cNvSpPr txBox="1"/>
          <p:nvPr/>
        </p:nvSpPr>
        <p:spPr>
          <a:xfrm>
            <a:off x="5040000" y="882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사용자 / 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059" y="1620000"/>
            <a:ext cx="2196000" cy="1368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arch_agent_1_header"/>
          <p:cNvSpPr/>
          <p:nvPr/>
        </p:nvSpPr>
        <p:spPr>
          <a:xfrm>
            <a:off x="318059" y="1620000"/>
            <a:ext cx="2196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data-teammate</a:t>
            </a:r>
          </a:p>
        </p:txBody>
      </p:sp>
      <p:sp>
        <p:nvSpPr>
          <p:cNvPr id="9" name="arch_agent_1_body"/>
          <p:cNvSpPr txBox="1"/>
          <p:nvPr/>
        </p:nvSpPr>
        <p:spPr>
          <a:xfrm>
            <a:off x="390059" y="2052000"/>
            <a:ext cx="2051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D2D2D"/>
                </a:solidFill>
              </a:rPr>
              <a:t>KPI·Capex·MRM·DST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8059" y="1620000"/>
            <a:ext cx="2196000" cy="1368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arch_agent_2_header"/>
          <p:cNvSpPr/>
          <p:nvPr/>
        </p:nvSpPr>
        <p:spPr>
          <a:xfrm>
            <a:off x="2658059" y="1620000"/>
            <a:ext cx="2196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ops-teammate</a:t>
            </a:r>
          </a:p>
        </p:txBody>
      </p:sp>
      <p:sp>
        <p:nvSpPr>
          <p:cNvPr id="12" name="arch_agent_2_body"/>
          <p:cNvSpPr txBox="1"/>
          <p:nvPr/>
        </p:nvSpPr>
        <p:spPr>
          <a:xfrm>
            <a:off x="2730059" y="2052000"/>
            <a:ext cx="2051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D2D2D"/>
                </a:solidFill>
              </a:rPr>
              <a:t>협력사·HR·결재·문서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8059" y="1620000"/>
            <a:ext cx="2196000" cy="1368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arch_agent_3_header"/>
          <p:cNvSpPr/>
          <p:nvPr/>
        </p:nvSpPr>
        <p:spPr>
          <a:xfrm>
            <a:off x="4998059" y="1620000"/>
            <a:ext cx="2196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tech-research-teammate</a:t>
            </a:r>
          </a:p>
        </p:txBody>
      </p:sp>
      <p:sp>
        <p:nvSpPr>
          <p:cNvPr id="15" name="arch_agent_3_body"/>
          <p:cNvSpPr txBox="1"/>
          <p:nvPr/>
        </p:nvSpPr>
        <p:spPr>
          <a:xfrm>
            <a:off x="5070059" y="2052000"/>
            <a:ext cx="2051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D2D2D"/>
                </a:solidFill>
              </a:rPr>
              <a:t>외부 동향·경쟁사·평가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8059" y="1620000"/>
            <a:ext cx="2196000" cy="1368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arch_agent_4_header"/>
          <p:cNvSpPr/>
          <p:nvPr/>
        </p:nvSpPr>
        <p:spPr>
          <a:xfrm>
            <a:off x="7338059" y="1620000"/>
            <a:ext cx="2196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document-writer</a:t>
            </a:r>
          </a:p>
        </p:txBody>
      </p:sp>
      <p:sp>
        <p:nvSpPr>
          <p:cNvPr id="18" name="arch_agent_4_body"/>
          <p:cNvSpPr txBox="1"/>
          <p:nvPr/>
        </p:nvSpPr>
        <p:spPr>
          <a:xfrm>
            <a:off x="7410059" y="2052000"/>
            <a:ext cx="2051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D2D2D"/>
                </a:solidFill>
              </a:rPr>
              <a:t>Markdown 양식 채움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78060" y="1620000"/>
            <a:ext cx="2196000" cy="1368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arch_agent_5_header"/>
          <p:cNvSpPr/>
          <p:nvPr/>
        </p:nvSpPr>
        <p:spPr>
          <a:xfrm>
            <a:off x="9678060" y="1620000"/>
            <a:ext cx="2196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ppt-writer</a:t>
            </a:r>
          </a:p>
        </p:txBody>
      </p:sp>
      <p:sp>
        <p:nvSpPr>
          <p:cNvPr id="21" name="arch_agent_5_body"/>
          <p:cNvSpPr txBox="1"/>
          <p:nvPr/>
        </p:nvSpPr>
        <p:spPr>
          <a:xfrm>
            <a:off x="9750059" y="2052000"/>
            <a:ext cx="2051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D2D2D"/>
                </a:solidFill>
              </a:rPr>
              <a:t>PPT 양식 채움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420000"/>
            <a:ext cx="3600000" cy="108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arch_skill_1_header"/>
          <p:cNvSpPr/>
          <p:nvPr/>
        </p:nvSpPr>
        <p:spPr>
          <a:xfrm>
            <a:off x="360000" y="342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meeting-minutes</a:t>
            </a:r>
          </a:p>
        </p:txBody>
      </p:sp>
      <p:sp>
        <p:nvSpPr>
          <p:cNvPr id="24" name="arch_skill_1_body"/>
          <p:cNvSpPr txBox="1"/>
          <p:nvPr/>
        </p:nvSpPr>
        <p:spPr>
          <a:xfrm>
            <a:off x="432000" y="3851999"/>
            <a:ext cx="345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녹취 → 회의록 PPTX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2000" y="3420000"/>
            <a:ext cx="3600000" cy="108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arch_skill_2_header"/>
          <p:cNvSpPr/>
          <p:nvPr/>
        </p:nvSpPr>
        <p:spPr>
          <a:xfrm>
            <a:off x="4212000" y="342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meeting-merger</a:t>
            </a:r>
          </a:p>
        </p:txBody>
      </p:sp>
      <p:sp>
        <p:nvSpPr>
          <p:cNvPr id="27" name="arch_skill_2_body"/>
          <p:cNvSpPr txBox="1"/>
          <p:nvPr/>
        </p:nvSpPr>
        <p:spPr>
          <a:xfrm>
            <a:off x="4283999" y="3851999"/>
            <a:ext cx="345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녹취+OneNote → Word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3999" y="3420000"/>
            <a:ext cx="3600000" cy="108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arch_skill_3_header"/>
          <p:cNvSpPr/>
          <p:nvPr/>
        </p:nvSpPr>
        <p:spPr>
          <a:xfrm>
            <a:off x="8063999" y="342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fa-task-discovery</a:t>
            </a:r>
          </a:p>
        </p:txBody>
      </p:sp>
      <p:sp>
        <p:nvSpPr>
          <p:cNvPr id="30" name="arch_skill_3_body"/>
          <p:cNvSpPr txBox="1"/>
          <p:nvPr/>
        </p:nvSpPr>
        <p:spPr>
          <a:xfrm>
            <a:off x="8135999" y="3851999"/>
            <a:ext cx="345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FA 6분야 → 과제 docx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4860000"/>
            <a:ext cx="11448000" cy="5760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arch_hooks"/>
          <p:cNvSpPr txBox="1"/>
          <p:nvPr/>
        </p:nvSpPr>
        <p:spPr>
          <a:xfrm>
            <a:off x="468000" y="4932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2B3A"/>
                </a:solidFill>
              </a:rPr>
              <a:t>[Hook 1] SessionStart → references/ 자동 인덱싱     |     [Hook 2] TaskCompleted → outputs/*.md 출처 자동 검증</a:t>
            </a:r>
          </a:p>
        </p:txBody>
      </p:sp>
      <p:sp>
        <p:nvSpPr>
          <p:cNvPr id="33" name="arch_caption"/>
          <p:cNvSpPr txBox="1"/>
          <p:nvPr/>
        </p:nvSpPr>
        <p:spPr>
          <a:xfrm>
            <a:off x="360000" y="576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architecture_caption }}</a:t>
            </a:r>
          </a:p>
        </p:txBody>
      </p:sp>
      <p:sp>
        <p:nvSpPr>
          <p:cNvPr id="34" name="arch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architecture_source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팀원 5명 — 사내 수치·운영 + 사외 리서치 +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792000"/>
            <a:ext cx="11448000" cy="1296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am_5_header"/>
          <p:cNvSpPr/>
          <p:nvPr/>
        </p:nvSpPr>
        <p:spPr>
          <a:xfrm>
            <a:off x="360000" y="792000"/>
            <a:ext cx="11448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tech-research-teammate  ✦ 외부 시야 담당</a:t>
            </a:r>
          </a:p>
        </p:txBody>
      </p:sp>
      <p:sp>
        <p:nvSpPr>
          <p:cNvPr id="7" name="team_5_body"/>
          <p:cNvSpPr txBox="1"/>
          <p:nvPr/>
        </p:nvSpPr>
        <p:spPr>
          <a:xfrm>
            <a:off x="432000" y="1224000"/>
            <a:ext cx="1130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team_card_5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2232000"/>
            <a:ext cx="5508000" cy="2052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am_1_header"/>
          <p:cNvSpPr/>
          <p:nvPr/>
        </p:nvSpPr>
        <p:spPr>
          <a:xfrm>
            <a:off x="360000" y="2232000"/>
            <a:ext cx="5508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data-teammate</a:t>
            </a:r>
          </a:p>
        </p:txBody>
      </p:sp>
      <p:sp>
        <p:nvSpPr>
          <p:cNvPr id="10" name="team_1_body"/>
          <p:cNvSpPr txBox="1"/>
          <p:nvPr/>
        </p:nvSpPr>
        <p:spPr>
          <a:xfrm>
            <a:off x="432000" y="2664000"/>
            <a:ext cx="5364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team_card_1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000" y="2232000"/>
            <a:ext cx="5508000" cy="2052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am_2_header"/>
          <p:cNvSpPr/>
          <p:nvPr/>
        </p:nvSpPr>
        <p:spPr>
          <a:xfrm>
            <a:off x="6300000" y="2232000"/>
            <a:ext cx="5508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ops-teammate</a:t>
            </a:r>
          </a:p>
        </p:txBody>
      </p:sp>
      <p:sp>
        <p:nvSpPr>
          <p:cNvPr id="13" name="team_2_body"/>
          <p:cNvSpPr txBox="1"/>
          <p:nvPr/>
        </p:nvSpPr>
        <p:spPr>
          <a:xfrm>
            <a:off x="6372000" y="2664000"/>
            <a:ext cx="5364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team_card_2 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4428000"/>
            <a:ext cx="5508000" cy="2052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am_3_header"/>
          <p:cNvSpPr/>
          <p:nvPr/>
        </p:nvSpPr>
        <p:spPr>
          <a:xfrm>
            <a:off x="360000" y="4428000"/>
            <a:ext cx="5508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document-writer</a:t>
            </a:r>
          </a:p>
        </p:txBody>
      </p:sp>
      <p:sp>
        <p:nvSpPr>
          <p:cNvPr id="16" name="team_3_body"/>
          <p:cNvSpPr txBox="1"/>
          <p:nvPr/>
        </p:nvSpPr>
        <p:spPr>
          <a:xfrm>
            <a:off x="432000" y="4860000"/>
            <a:ext cx="5364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team_card_3 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000" y="4428000"/>
            <a:ext cx="5508000" cy="2052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am_4_header"/>
          <p:cNvSpPr/>
          <p:nvPr/>
        </p:nvSpPr>
        <p:spPr>
          <a:xfrm>
            <a:off x="6300000" y="4428000"/>
            <a:ext cx="5508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ppt-writer</a:t>
            </a:r>
          </a:p>
        </p:txBody>
      </p:sp>
      <p:sp>
        <p:nvSpPr>
          <p:cNvPr id="19" name="team_4_body"/>
          <p:cNvSpPr txBox="1"/>
          <p:nvPr/>
        </p:nvSpPr>
        <p:spPr>
          <a:xfrm>
            <a:off x="6372000" y="4860000"/>
            <a:ext cx="5364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team_card_4 }}</a:t>
            </a:r>
          </a:p>
        </p:txBody>
      </p:sp>
      <p:sp>
        <p:nvSpPr>
          <p:cNvPr id="20" name="team_src"/>
          <p:cNvSpPr txBox="1"/>
          <p:nvPr/>
        </p:nvSpPr>
        <p:spPr>
          <a:xfrm>
            <a:off x="360000" y="6552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team_source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도메인 스킬 3개 — 회의·기술 동향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900000"/>
            <a:ext cx="3600000" cy="48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kill_1_header"/>
          <p:cNvSpPr/>
          <p:nvPr/>
        </p:nvSpPr>
        <p:spPr>
          <a:xfrm>
            <a:off x="360000" y="90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meeting-minutes</a:t>
            </a:r>
          </a:p>
        </p:txBody>
      </p:sp>
      <p:sp>
        <p:nvSpPr>
          <p:cNvPr id="7" name="skill_1_body"/>
          <p:cNvSpPr txBox="1"/>
          <p:nvPr/>
        </p:nvSpPr>
        <p:spPr>
          <a:xfrm>
            <a:off x="432000" y="1332000"/>
            <a:ext cx="3456000" cy="43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skill_card_1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2000" y="900000"/>
            <a:ext cx="3600000" cy="48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kill_2_header"/>
          <p:cNvSpPr/>
          <p:nvPr/>
        </p:nvSpPr>
        <p:spPr>
          <a:xfrm>
            <a:off x="4212000" y="90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meeting-merger</a:t>
            </a:r>
          </a:p>
        </p:txBody>
      </p:sp>
      <p:sp>
        <p:nvSpPr>
          <p:cNvPr id="10" name="skill_2_body"/>
          <p:cNvSpPr txBox="1"/>
          <p:nvPr/>
        </p:nvSpPr>
        <p:spPr>
          <a:xfrm>
            <a:off x="4283999" y="1332000"/>
            <a:ext cx="3456000" cy="43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skill_card_2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3999" y="900000"/>
            <a:ext cx="3600000" cy="48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kill_3_header"/>
          <p:cNvSpPr/>
          <p:nvPr/>
        </p:nvSpPr>
        <p:spPr>
          <a:xfrm>
            <a:off x="8063999" y="90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fa-task-discovery</a:t>
            </a:r>
          </a:p>
        </p:txBody>
      </p:sp>
      <p:sp>
        <p:nvSpPr>
          <p:cNvPr id="13" name="skill_3_body"/>
          <p:cNvSpPr txBox="1"/>
          <p:nvPr/>
        </p:nvSpPr>
        <p:spPr>
          <a:xfrm>
            <a:off x="8135999" y="1332000"/>
            <a:ext cx="3456000" cy="43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skill_card_3 }}</a:t>
            </a:r>
          </a:p>
        </p:txBody>
      </p:sp>
      <p:sp>
        <p:nvSpPr>
          <p:cNvPr id="14" name="skills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skills_source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어떻게 만들었는가 — Agent Teams SOP 4단계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260000"/>
            <a:ext cx="2664000" cy="39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op_step_1_header"/>
          <p:cNvSpPr/>
          <p:nvPr/>
        </p:nvSpPr>
        <p:spPr>
          <a:xfrm>
            <a:off x="360000" y="1260000"/>
            <a:ext cx="2664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1
분해</a:t>
            </a:r>
          </a:p>
        </p:txBody>
      </p:sp>
      <p:sp>
        <p:nvSpPr>
          <p:cNvPr id="7" name="sop_step_1_body"/>
          <p:cNvSpPr txBox="1"/>
          <p:nvPr/>
        </p:nvSpPr>
        <p:spPr>
          <a:xfrm>
            <a:off x="432000" y="1692000"/>
            <a:ext cx="2520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sop_step_1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0" y="1260000"/>
            <a:ext cx="2664000" cy="39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op_step_2_header"/>
          <p:cNvSpPr/>
          <p:nvPr/>
        </p:nvSpPr>
        <p:spPr>
          <a:xfrm>
            <a:off x="3240000" y="1260000"/>
            <a:ext cx="2664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2
병렬 수집</a:t>
            </a:r>
          </a:p>
        </p:txBody>
      </p:sp>
      <p:sp>
        <p:nvSpPr>
          <p:cNvPr id="10" name="sop_step_2_body"/>
          <p:cNvSpPr txBox="1"/>
          <p:nvPr/>
        </p:nvSpPr>
        <p:spPr>
          <a:xfrm>
            <a:off x="3311999" y="1692000"/>
            <a:ext cx="2520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sop_step_2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1260000"/>
            <a:ext cx="2664000" cy="39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op_step_3_header"/>
          <p:cNvSpPr/>
          <p:nvPr/>
        </p:nvSpPr>
        <p:spPr>
          <a:xfrm>
            <a:off x="6120000" y="1260000"/>
            <a:ext cx="2664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
위임 작성</a:t>
            </a:r>
          </a:p>
        </p:txBody>
      </p:sp>
      <p:sp>
        <p:nvSpPr>
          <p:cNvPr id="13" name="sop_step_3_body"/>
          <p:cNvSpPr txBox="1"/>
          <p:nvPr/>
        </p:nvSpPr>
        <p:spPr>
          <a:xfrm>
            <a:off x="6192000" y="1692000"/>
            <a:ext cx="2520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sop_step_3 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0" y="1260000"/>
            <a:ext cx="2664000" cy="39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op_step_4_header"/>
          <p:cNvSpPr/>
          <p:nvPr/>
        </p:nvSpPr>
        <p:spPr>
          <a:xfrm>
            <a:off x="9000000" y="1260000"/>
            <a:ext cx="2664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4
품질 게이트</a:t>
            </a:r>
          </a:p>
        </p:txBody>
      </p:sp>
      <p:sp>
        <p:nvSpPr>
          <p:cNvPr id="16" name="sop_step_4_body"/>
          <p:cNvSpPr txBox="1"/>
          <p:nvPr/>
        </p:nvSpPr>
        <p:spPr>
          <a:xfrm>
            <a:off x="9072000" y="1692000"/>
            <a:ext cx="2520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sop_step_4 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4000" y="2700000"/>
            <a:ext cx="216000" cy="216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03999" y="2700000"/>
            <a:ext cx="216000" cy="216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784000" y="2700000"/>
            <a:ext cx="216000" cy="216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op_caption"/>
          <p:cNvSpPr txBox="1"/>
          <p:nvPr/>
        </p:nvSpPr>
        <p:spPr>
          <a:xfrm>
            <a:off x="360000" y="576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sop_caption }}</a:t>
            </a:r>
          </a:p>
        </p:txBody>
      </p:sp>
      <p:sp>
        <p:nvSpPr>
          <p:cNvPr id="21" name="sop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sop_source 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특징 ① 병렬·컨텍스트 격리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0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2B3A"/>
                </a:solidFill>
              </a:rPr>
              <a:t>팀원은 리더의 대화 기록을 받지 않고, 호출 프롬프트만 본다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440000"/>
            <a:ext cx="3600000" cy="414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_card_1_header"/>
          <p:cNvSpPr/>
          <p:nvPr/>
        </p:nvSpPr>
        <p:spPr>
          <a:xfrm>
            <a:off x="360000" y="144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토큰 절감</a:t>
            </a:r>
          </a:p>
        </p:txBody>
      </p:sp>
      <p:sp>
        <p:nvSpPr>
          <p:cNvPr id="8" name="iso_card_1_body"/>
          <p:cNvSpPr txBox="1"/>
          <p:nvPr/>
        </p:nvSpPr>
        <p:spPr>
          <a:xfrm>
            <a:off x="432000" y="1872000"/>
            <a:ext cx="3456000" cy="36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iso_card_1 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2000" y="1440000"/>
            <a:ext cx="3600000" cy="414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so_card_2_header"/>
          <p:cNvSpPr/>
          <p:nvPr/>
        </p:nvSpPr>
        <p:spPr>
          <a:xfrm>
            <a:off x="4212000" y="144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환각 차단</a:t>
            </a:r>
          </a:p>
        </p:txBody>
      </p:sp>
      <p:sp>
        <p:nvSpPr>
          <p:cNvPr id="11" name="iso_card_2_body"/>
          <p:cNvSpPr txBox="1"/>
          <p:nvPr/>
        </p:nvSpPr>
        <p:spPr>
          <a:xfrm>
            <a:off x="4283999" y="1872000"/>
            <a:ext cx="3456000" cy="36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iso_card_2 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3999" y="1440000"/>
            <a:ext cx="3600000" cy="414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iso_card_3_header"/>
          <p:cNvSpPr/>
          <p:nvPr/>
        </p:nvSpPr>
        <p:spPr>
          <a:xfrm>
            <a:off x="8063999" y="144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스코프 명확</a:t>
            </a:r>
          </a:p>
        </p:txBody>
      </p:sp>
      <p:sp>
        <p:nvSpPr>
          <p:cNvPr id="14" name="iso_card_3_body"/>
          <p:cNvSpPr txBox="1"/>
          <p:nvPr/>
        </p:nvSpPr>
        <p:spPr>
          <a:xfrm>
            <a:off x="8135999" y="1872000"/>
            <a:ext cx="3456000" cy="36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iso_card_3 }}</a:t>
            </a:r>
          </a:p>
        </p:txBody>
      </p:sp>
      <p:sp>
        <p:nvSpPr>
          <p:cNvPr id="15" name="iso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iso_source 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특징 ② 출처 자동검증 + 결정론 PPT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00000"/>
            <a:ext cx="5400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32000" y="954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TaskCompleted Hook (출처 검증)</a:t>
            </a:r>
          </a:p>
        </p:txBody>
      </p:sp>
      <p:sp>
        <p:nvSpPr>
          <p:cNvPr id="7" name="hook_snippet"/>
          <p:cNvSpPr txBox="1"/>
          <p:nvPr/>
        </p:nvSpPr>
        <p:spPr>
          <a:xfrm>
            <a:off x="360000" y="1332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hook_snippet 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0000" y="900000"/>
            <a:ext cx="5508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72000" y="954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결정론 PPT 파이프라인</a:t>
            </a:r>
          </a:p>
        </p:txBody>
      </p:sp>
      <p:sp>
        <p:nvSpPr>
          <p:cNvPr id="10" name="pipeline_snippet"/>
          <p:cNvSpPr txBox="1"/>
          <p:nvPr/>
        </p:nvSpPr>
        <p:spPr>
          <a:xfrm>
            <a:off x="6300000" y="1332000"/>
            <a:ext cx="5508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pipeline_snippet }}</a:t>
            </a:r>
          </a:p>
        </p:txBody>
      </p:sp>
      <p:sp>
        <p:nvSpPr>
          <p:cNvPr id="11" name="ver_caption"/>
          <p:cNvSpPr txBox="1"/>
          <p:nvPr/>
        </p:nvSpPr>
        <p:spPr>
          <a:xfrm>
            <a:off x="360000" y="4500000"/>
            <a:ext cx="111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verification_caption }}</a:t>
            </a:r>
          </a:p>
        </p:txBody>
      </p:sp>
      <p:sp>
        <p:nvSpPr>
          <p:cNvPr id="12" name="ver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verification_source 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할 수 있는 일 — 6가지 산출 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900000"/>
            <a:ext cx="3600000" cy="21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ap_card_1_header"/>
          <p:cNvSpPr/>
          <p:nvPr/>
        </p:nvSpPr>
        <p:spPr>
          <a:xfrm>
            <a:off x="360000" y="900000"/>
            <a:ext cx="3600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주간보고 (.md)</a:t>
            </a:r>
          </a:p>
        </p:txBody>
      </p:sp>
      <p:sp>
        <p:nvSpPr>
          <p:cNvPr id="7" name="cap_card_1_body"/>
          <p:cNvSpPr txBox="1"/>
          <p:nvPr/>
        </p:nvSpPr>
        <p:spPr>
          <a:xfrm>
            <a:off x="432000" y="1332000"/>
            <a:ext cx="3456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cap_card_1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2000" y="900000"/>
            <a:ext cx="3600000" cy="21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p_card_2_header"/>
          <p:cNvSpPr/>
          <p:nvPr/>
        </p:nvSpPr>
        <p:spPr>
          <a:xfrm>
            <a:off x="4212000" y="900000"/>
            <a:ext cx="3600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월간보고 (.md)</a:t>
            </a:r>
          </a:p>
        </p:txBody>
      </p:sp>
      <p:sp>
        <p:nvSpPr>
          <p:cNvPr id="10" name="cap_card_2_body"/>
          <p:cNvSpPr txBox="1"/>
          <p:nvPr/>
        </p:nvSpPr>
        <p:spPr>
          <a:xfrm>
            <a:off x="4283999" y="1332000"/>
            <a:ext cx="3456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cap_card_2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3999" y="900000"/>
            <a:ext cx="3600000" cy="21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ap_card_3_header"/>
          <p:cNvSpPr/>
          <p:nvPr/>
        </p:nvSpPr>
        <p:spPr>
          <a:xfrm>
            <a:off x="8063999" y="900000"/>
            <a:ext cx="3600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회의록 (.md)</a:t>
            </a:r>
          </a:p>
        </p:txBody>
      </p:sp>
      <p:sp>
        <p:nvSpPr>
          <p:cNvPr id="13" name="cap_card_3_body"/>
          <p:cNvSpPr txBox="1"/>
          <p:nvPr/>
        </p:nvSpPr>
        <p:spPr>
          <a:xfrm>
            <a:off x="8135999" y="1332000"/>
            <a:ext cx="3456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cap_card_3 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3348000"/>
            <a:ext cx="3600000" cy="21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cap_card_4_header"/>
          <p:cNvSpPr/>
          <p:nvPr/>
        </p:nvSpPr>
        <p:spPr>
          <a:xfrm>
            <a:off x="360000" y="3348000"/>
            <a:ext cx="3600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회의록 (.pptx, 녹취 기반)</a:t>
            </a:r>
          </a:p>
        </p:txBody>
      </p:sp>
      <p:sp>
        <p:nvSpPr>
          <p:cNvPr id="16" name="cap_card_4_body"/>
          <p:cNvSpPr txBox="1"/>
          <p:nvPr/>
        </p:nvSpPr>
        <p:spPr>
          <a:xfrm>
            <a:off x="432000" y="3780000"/>
            <a:ext cx="3456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cap_card_4 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2000" y="3348000"/>
            <a:ext cx="3600000" cy="21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ap_card_5_header"/>
          <p:cNvSpPr/>
          <p:nvPr/>
        </p:nvSpPr>
        <p:spPr>
          <a:xfrm>
            <a:off x="4212000" y="3348000"/>
            <a:ext cx="3600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회의록 (.docx, 녹취+OneNote)</a:t>
            </a:r>
          </a:p>
        </p:txBody>
      </p:sp>
      <p:sp>
        <p:nvSpPr>
          <p:cNvPr id="19" name="cap_card_5_body"/>
          <p:cNvSpPr txBox="1"/>
          <p:nvPr/>
        </p:nvSpPr>
        <p:spPr>
          <a:xfrm>
            <a:off x="4283999" y="3780000"/>
            <a:ext cx="3456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cap_card_5 }}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3999" y="3348000"/>
            <a:ext cx="3600000" cy="216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ap_card_6_header"/>
          <p:cNvSpPr/>
          <p:nvPr/>
        </p:nvSpPr>
        <p:spPr>
          <a:xfrm>
            <a:off x="8063999" y="3348000"/>
            <a:ext cx="3600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 기술과제 발굴 (.docx + 카톡)</a:t>
            </a:r>
          </a:p>
        </p:txBody>
      </p:sp>
      <p:sp>
        <p:nvSpPr>
          <p:cNvPr id="22" name="cap_card_6_body"/>
          <p:cNvSpPr txBox="1"/>
          <p:nvPr/>
        </p:nvSpPr>
        <p:spPr>
          <a:xfrm>
            <a:off x="8135999" y="3780000"/>
            <a:ext cx="3456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cap_card_6 }}</a:t>
            </a:r>
          </a:p>
        </p:txBody>
      </p:sp>
      <p:sp>
        <p:nvSpPr>
          <p:cNvPr id="23" name="cap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capabilities_source 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협업 시나리오 — 팀원 간 우편함 develop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56000"/>
            <a:ext cx="11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C2B3A"/>
                </a:solidFill>
              </a:rPr>
              <a:t>팀원들이 독립적이 아닌, 우편함으로 직접 소통하며 결과를 develop 한다 — 같은 데이터를 여러 라운드에 걸쳐 정제·심화한다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188000"/>
            <a:ext cx="5580000" cy="4572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C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llab_card_1_header"/>
          <p:cNvSpPr/>
          <p:nvPr/>
        </p:nvSpPr>
        <p:spPr>
          <a:xfrm>
            <a:off x="360000" y="1188000"/>
            <a:ext cx="5580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시나리오 ① 과제 진척률 심층 보고</a:t>
            </a:r>
          </a:p>
        </p:txBody>
      </p:sp>
      <p:sp>
        <p:nvSpPr>
          <p:cNvPr id="8" name="collab_card_1_body"/>
          <p:cNvSpPr txBox="1"/>
          <p:nvPr/>
        </p:nvSpPr>
        <p:spPr>
          <a:xfrm>
            <a:off x="432000" y="1620000"/>
            <a:ext cx="5436000" cy="406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collab_scenario_1 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8000" y="1188000"/>
            <a:ext cx="5580000" cy="4572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ollab_card_2_header"/>
          <p:cNvSpPr/>
          <p:nvPr/>
        </p:nvSpPr>
        <p:spPr>
          <a:xfrm>
            <a:off x="6228000" y="1188000"/>
            <a:ext cx="558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시나리오 ② 외부 동향 → KPI 재설정 제안</a:t>
            </a:r>
          </a:p>
        </p:txBody>
      </p:sp>
      <p:sp>
        <p:nvSpPr>
          <p:cNvPr id="11" name="collab_card_2_body"/>
          <p:cNvSpPr txBox="1"/>
          <p:nvPr/>
        </p:nvSpPr>
        <p:spPr>
          <a:xfrm>
            <a:off x="6300000" y="1620000"/>
            <a:ext cx="5436000" cy="406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collab_scenario_2 }}</a:t>
            </a:r>
          </a:p>
        </p:txBody>
      </p:sp>
      <p:sp>
        <p:nvSpPr>
          <p:cNvPr id="12" name="collab_caption"/>
          <p:cNvSpPr txBox="1"/>
          <p:nvPr/>
        </p:nvSpPr>
        <p:spPr>
          <a:xfrm>
            <a:off x="360000" y="5903999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collab_caption }}</a:t>
            </a:r>
          </a:p>
        </p:txBody>
      </p:sp>
      <p:sp>
        <p:nvSpPr>
          <p:cNvPr id="13" name="collab_src"/>
          <p:cNvSpPr txBox="1"/>
          <p:nvPr/>
        </p:nvSpPr>
        <p:spPr>
          <a:xfrm>
            <a:off x="360000" y="6408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collab_source 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데모 ① 주간보고 — outputs/주간보고_2026-05-12.md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00000"/>
            <a:ext cx="6480000" cy="50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emo_weekly_image_slot"/>
          <p:cNvSpPr txBox="1"/>
          <p:nvPr/>
        </p:nvSpPr>
        <p:spPr>
          <a:xfrm>
            <a:off x="540000" y="3060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B3A"/>
                </a:solidFill>
              </a:rPr>
              <a:t>[ 이미지 슬롯 ] outputs/주간보고_2026-05-12.md 캡처 삽입</a:t>
            </a:r>
          </a:p>
        </p:txBody>
      </p:sp>
      <p:sp>
        <p:nvSpPr>
          <p:cNvPr id="7" name="demo_weekly_image_caption"/>
          <p:cNvSpPr txBox="1"/>
          <p:nvPr/>
        </p:nvSpPr>
        <p:spPr>
          <a:xfrm>
            <a:off x="540000" y="3600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</a:rPr>
              <a:t>(빨간 박스로 (출처: ...) 부분 강조)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0000" y="900000"/>
            <a:ext cx="4428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52000" y="954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데모 포인트</a:t>
            </a:r>
          </a:p>
        </p:txBody>
      </p:sp>
      <p:sp>
        <p:nvSpPr>
          <p:cNvPr id="10" name="demo_weekly_points"/>
          <p:cNvSpPr txBox="1"/>
          <p:nvPr/>
        </p:nvSpPr>
        <p:spPr>
          <a:xfrm>
            <a:off x="7380000" y="1368000"/>
            <a:ext cx="4428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demo_weekly_points }}</a:t>
            </a:r>
          </a:p>
        </p:txBody>
      </p:sp>
      <p:sp>
        <p:nvSpPr>
          <p:cNvPr id="11" name="demo_weekly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demo_weekly_source 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데모 ② 로드맵 v2 &amp; MMF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00000"/>
            <a:ext cx="5400000" cy="48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emo_roadmap_slot1"/>
          <p:cNvSpPr txBox="1"/>
          <p:nvPr/>
        </p:nvSpPr>
        <p:spPr>
          <a:xfrm>
            <a:off x="540000" y="288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2B3A"/>
                </a:solidFill>
              </a:rPr>
              <a:t>[ 이미지 슬롯 ] roadmap_v2.pptx 4축 KPI 슬라이드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0" y="900000"/>
            <a:ext cx="5508000" cy="48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emo_roadmap_slot2"/>
          <p:cNvSpPr txBox="1"/>
          <p:nvPr/>
        </p:nvSpPr>
        <p:spPr>
          <a:xfrm>
            <a:off x="6480000" y="288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2B3A"/>
                </a:solidFill>
              </a:rPr>
              <a:t>[ 이미지 슬롯 ] MMF Pop-up Factory SVG</a:t>
            </a:r>
          </a:p>
        </p:txBody>
      </p:sp>
      <p:sp>
        <p:nvSpPr>
          <p:cNvPr id="9" name="demo_roadmap_cap"/>
          <p:cNvSpPr txBox="1"/>
          <p:nvPr/>
        </p:nvSpPr>
        <p:spPr>
          <a:xfrm>
            <a:off x="360000" y="594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D2D2D"/>
                </a:solidFill>
              </a:rPr>
              <a:t>{{ demo_roadmap_caption }}</a:t>
            </a:r>
          </a:p>
        </p:txBody>
      </p:sp>
      <p:sp>
        <p:nvSpPr>
          <p:cNvPr id="10" name="demo_roadmap_src"/>
          <p:cNvSpPr txBox="1"/>
          <p:nvPr/>
        </p:nvSpPr>
        <p:spPr>
          <a:xfrm>
            <a:off x="360000" y="6408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demo_roadmap_source 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ROI · 적용 효과 ·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900000"/>
            <a:ext cx="3600000" cy="180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i_kpi_1_header"/>
          <p:cNvSpPr/>
          <p:nvPr/>
        </p:nvSpPr>
        <p:spPr>
          <a:xfrm>
            <a:off x="360000" y="90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작성 시간</a:t>
            </a:r>
          </a:p>
        </p:txBody>
      </p:sp>
      <p:sp>
        <p:nvSpPr>
          <p:cNvPr id="7" name="roi_kpi_1_body"/>
          <p:cNvSpPr txBox="1"/>
          <p:nvPr/>
        </p:nvSpPr>
        <p:spPr>
          <a:xfrm>
            <a:off x="432000" y="1332000"/>
            <a:ext cx="345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2D2D"/>
                </a:solidFill>
              </a:rPr>
              <a:t>{{ roi_kpi_1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2000" y="900000"/>
            <a:ext cx="3600000" cy="180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i_kpi_2_header"/>
          <p:cNvSpPr/>
          <p:nvPr/>
        </p:nvSpPr>
        <p:spPr>
          <a:xfrm>
            <a:off x="4212000" y="90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출처 검증률</a:t>
            </a:r>
          </a:p>
        </p:txBody>
      </p:sp>
      <p:sp>
        <p:nvSpPr>
          <p:cNvPr id="10" name="roi_kpi_2_body"/>
          <p:cNvSpPr txBox="1"/>
          <p:nvPr/>
        </p:nvSpPr>
        <p:spPr>
          <a:xfrm>
            <a:off x="4283999" y="1332000"/>
            <a:ext cx="345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2D2D"/>
                </a:solidFill>
              </a:rPr>
              <a:t>{{ roi_kpi_2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3999" y="900000"/>
            <a:ext cx="3600000" cy="18000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B88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i_kpi_3_header"/>
          <p:cNvSpPr/>
          <p:nvPr/>
        </p:nvSpPr>
        <p:spPr>
          <a:xfrm>
            <a:off x="8063999" y="900000"/>
            <a:ext cx="3600000" cy="360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tIns="360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산출물 표준화</a:t>
            </a:r>
          </a:p>
        </p:txBody>
      </p:sp>
      <p:sp>
        <p:nvSpPr>
          <p:cNvPr id="13" name="roi_kpi_3_body"/>
          <p:cNvSpPr txBox="1"/>
          <p:nvPr/>
        </p:nvSpPr>
        <p:spPr>
          <a:xfrm>
            <a:off x="8135999" y="1332000"/>
            <a:ext cx="345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2D2D"/>
                </a:solidFill>
              </a:rPr>
              <a:t>{{ roi_kpi_3 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880000"/>
            <a:ext cx="11448000" cy="360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2000" y="2934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다음 단계 (Next 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420000"/>
            <a:ext cx="144000" cy="144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ext_step_1"/>
          <p:cNvSpPr txBox="1"/>
          <p:nvPr/>
        </p:nvSpPr>
        <p:spPr>
          <a:xfrm>
            <a:off x="612000" y="3366000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2D2D"/>
                </a:solidFill>
              </a:rPr>
              <a:t>{{ next_step_1 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4031999"/>
            <a:ext cx="144000" cy="144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next_step_2"/>
          <p:cNvSpPr txBox="1"/>
          <p:nvPr/>
        </p:nvSpPr>
        <p:spPr>
          <a:xfrm>
            <a:off x="612000" y="3977999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2D2D"/>
                </a:solidFill>
              </a:rPr>
              <a:t>{{ next_step_2 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4644000"/>
            <a:ext cx="144000" cy="144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next_step_3"/>
          <p:cNvSpPr txBox="1"/>
          <p:nvPr/>
        </p:nvSpPr>
        <p:spPr>
          <a:xfrm>
            <a:off x="612000" y="4590000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2D2D"/>
                </a:solidFill>
              </a:rPr>
              <a:t>{{ next_step_3 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5256000"/>
            <a:ext cx="144000" cy="144000"/>
          </a:xfrm>
          <a:prstGeom prst="rect">
            <a:avLst/>
          </a:prstGeom>
          <a:solidFill>
            <a:srgbClr val="B88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next_step_4"/>
          <p:cNvSpPr txBox="1"/>
          <p:nvPr/>
        </p:nvSpPr>
        <p:spPr>
          <a:xfrm>
            <a:off x="612000" y="5202000"/>
            <a:ext cx="111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2D2D"/>
                </a:solidFill>
              </a:rPr>
              <a:t>{{ next_step_4 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[부록 A] 회의록 자동화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00000"/>
            <a:ext cx="6480000" cy="50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appendix_minutes_slot"/>
          <p:cNvSpPr txBox="1"/>
          <p:nvPr/>
        </p:nvSpPr>
        <p:spPr>
          <a:xfrm>
            <a:off x="540000" y="3060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B3A"/>
                </a:solidFill>
              </a:rPr>
              <a:t>[ 이미지 슬롯 ] outputs/회의록_신규R&amp;D과제착수_2026-05-12.md 캡처</a:t>
            </a:r>
          </a:p>
        </p:txBody>
      </p:sp>
      <p:sp>
        <p:nvSpPr>
          <p:cNvPr id="7" name="appendix_minutes_points"/>
          <p:cNvSpPr txBox="1"/>
          <p:nvPr/>
        </p:nvSpPr>
        <p:spPr>
          <a:xfrm>
            <a:off x="7380000" y="900000"/>
            <a:ext cx="4428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appendix_minutes_points }}</a:t>
            </a:r>
          </a:p>
        </p:txBody>
      </p:sp>
      <p:sp>
        <p:nvSpPr>
          <p:cNvPr id="8" name="appendix_minutes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appendix_minutes_source }}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[부록 B] FA 기술과제 발굴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40000" y="144000"/>
            <a:ext cx="7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8883A"/>
                </a:solidFill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00000"/>
            <a:ext cx="6480000" cy="50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appendix_fa_slot"/>
          <p:cNvSpPr txBox="1"/>
          <p:nvPr/>
        </p:nvSpPr>
        <p:spPr>
          <a:xfrm>
            <a:off x="540000" y="3060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B3A"/>
                </a:solidFill>
              </a:rPr>
              <a:t>[ 이미지 슬롯 ] outputs/FA_기술과제후보_20260512.docx 1페이지</a:t>
            </a:r>
          </a:p>
        </p:txBody>
      </p:sp>
      <p:sp>
        <p:nvSpPr>
          <p:cNvPr id="7" name="appendix_fa_points"/>
          <p:cNvSpPr txBox="1"/>
          <p:nvPr/>
        </p:nvSpPr>
        <p:spPr>
          <a:xfrm>
            <a:off x="7380000" y="900000"/>
            <a:ext cx="4428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D2D2D"/>
                </a:solidFill>
              </a:rPr>
              <a:t>{{ appendix_fa_points }}</a:t>
            </a:r>
          </a:p>
        </p:txBody>
      </p:sp>
      <p:sp>
        <p:nvSpPr>
          <p:cNvPr id="8" name="appendix_fa_src"/>
          <p:cNvSpPr txBox="1"/>
          <p:nvPr/>
        </p:nvSpPr>
        <p:spPr>
          <a:xfrm>
            <a:off x="360000" y="630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8883A"/>
                </a:solidFill>
              </a:rPr>
              <a:t>출처: {{ appendix_fa_source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