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907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90000"/>
            <a:ext cx="7020000" cy="36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FA 자동화 에이전트 팀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3999" y="108000"/>
            <a:ext cx="2520000" cy="34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FA 기술담당</a:t>
            </a:r>
          </a:p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(2026.06.11)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6000" y="486000"/>
            <a:ext cx="94680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540000"/>
            <a:ext cx="9468000" cy="540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5개 전문 에이전트가 데이터 수집·운영 검색·기술 리서치·문서 작성을 분업하고 협업하여 정형 보고서와 PPT를 자동 생성합니다.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1116000"/>
            <a:ext cx="827999" cy="10008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data
-teammate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11880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KPI·Capex·MRM·DST 숫자와 일정 데이터 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1411200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역할 : 사내 정량 데이터(KPI 진척, 투자비, 양산 로드맵, R&amp;D 과제 진척) 조회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사용 시점 : KPI 진척 확인, Capex 검토, 양산·R&amp;D 일정 조회 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도구 : Read · Grep · Glob · Bash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2224800"/>
            <a:ext cx="827999" cy="10008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ops
-teammate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2968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협력사·HR·결재 큐·사내문서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2520000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역할 : 협력사 현황, HR(출장/교육/포상), 승인 대기, 사내 PDF/PPT 검색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사용 시점 : 협력사 현황 파악, HR 활동 조회, 사내문서 검색 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도구 : Read · Grep · Glob · Bash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3333600"/>
            <a:ext cx="827999" cy="10008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tech
-research
-teammate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3405599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외부 기술 동향·경쟁사·기술 평가 (FA 6분야)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628799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역할 : AMR/협동로봇/디지털트윈/스마트물류/AI/피지컬AI 동향·경쟁사 리서치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FF"/>
                </a:solidFill>
                <a:ea typeface="LG스마트체 Regular"/>
                <a:cs typeface="LG스마트체 Regular"/>
                <a:latin typeface="Arial Narrow"/>
              </a:rPr>
              <a:t> • 사용 시점 : 신규 과제 발굴, KPI 재설정, 로드맵 검토 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도구 : Read · Grep · Glob · Bash · Write · WebSearch · WebFetch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000" y="4442400"/>
            <a:ext cx="827999" cy="10008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document
-writer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000" y="45144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markdown(.md) 양식 빈칸 채움 → 완성 보고서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000" y="4737599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역할 : templates/*.md 양식의 placeholder를 데이터로 채워 보고서 완성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사용 시점 : 회의록·주간보고·월간보고 작성 요청 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도구 : Read · Write · Edit · Glob · Grep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" y="5551200"/>
            <a:ext cx="827999" cy="1000800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ppt
-writer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56232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.pptx 양식 분석 → 빈칸 추론 → 데이터 수집 → PPTX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000" y="5846399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역할 : templates/*.pptx 양식 구조 추출 후 결정론적 스크립트로 채움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사용 시점 : PPT 작성·양식 채움 요청 시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도구 : Read · Write · Edit · Glob · Grep · Bash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" y="6606000"/>
            <a:ext cx="9468000" cy="1980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06600"/>
                </a:solidFill>
                <a:ea typeface="LG스마트체 Regular"/>
                <a:cs typeface="LG스마트체 Regular"/>
                <a:latin typeface="Arial Narrow"/>
              </a:rPr>
              <a:t>* 본 자료는 레포지토리 .claude/agents/ 정의 및 CLAUDE.md 기반으로 작성되었습니다.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90000"/>
            <a:ext cx="7020000" cy="36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데이터·운영 에이전트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3999" y="108000"/>
            <a:ext cx="2520000" cy="34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FA 기술담당</a:t>
            </a:r>
          </a:p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(2026.06.11)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6000" y="486000"/>
            <a:ext cx="94680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540000"/>
            <a:ext cx="9468000" cy="540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data-teammate는 사내 정량 데이터를, ops-teammate는 협력사·HR·사내문서를 전담합니다.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1116000"/>
            <a:ext cx="827999" cy="2664705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data
-teammate
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11880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KPI·Roadmap / Capex·면적·구매 / MRM 양산 로드맵 / DST R&amp;D 미래기술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1411200"/>
            <a:ext cx="8568000" cy="739011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KPI·Roadmap — 분기별 KPI 진척률, 목표 대비 실적, 달성률 계산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Capex·면적·구매 — 연간 투자비 현황, 설비 면적, 구매 계획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MRM 양산 로드맵 — 양산 일정·가동률·수율 데이터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DST R&amp;D 미래기술 — R&amp;D 과제 진척, TRL 단계, 마일스톤 확인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16000" y="2150211"/>
          <a:ext cx="8568000" cy="150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3060000"/>
                <a:gridCol w="3888000"/>
              </a:tblGrid>
              <a:tr h="301999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담당 영역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주요 데이터 소스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활용 보고서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KPI·Roadmap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sample_data/kpi_tracker.csv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주간/월간 보고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Capex·구매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sample_data/capex_plan.csv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투자비 현황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MRM 양산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sample_data/mrm_schedule.md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양산 로드맵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DST R&amp;D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sample_data/dst_progress.md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R&amp;D 진척 보고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16000" y="3888705"/>
            <a:ext cx="827999" cy="2664705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ops
-teammate
상세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3960705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협력사 풀/벤더 / HR 출장·교육·포상 / 결재 큐 / 사내문서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000" y="4183905"/>
            <a:ext cx="8568000" cy="739011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협력사 풀/벤더 — 협력사 현황, 계약 상태, 벤더 등록 정보 검색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HR 출장·교육·포상 — 출장 신청 현황, 교육 이수, 포상 대상 조회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결재 큐 — 승인 대기 문서 목록 및 결재선 확인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사내문서 검색 — references/ 내 PDF·PPT·회의록 전문 검색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116000" y="4922917"/>
          <a:ext cx="8568000" cy="150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3060000"/>
                <a:gridCol w="3888000"/>
              </a:tblGrid>
              <a:tr h="301999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담당 영역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주요 데이터 소스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활용 보고서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협력사·벤더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sample_data/vendor_list.csv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협력사 현황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HR 활동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sample_data/hr_activities.md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HR 보고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결재 큐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sample_data/approval_queue.md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결재 현황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1999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사내문서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references/**/*.md, *.pdf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회의록·정책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6000" y="6606000"/>
            <a:ext cx="9468000" cy="1980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06600"/>
                </a:solidFill>
                <a:ea typeface="LG스마트체 Regular"/>
                <a:cs typeface="LG스마트체 Regular"/>
                <a:latin typeface="Arial Narrow"/>
              </a:rPr>
              <a:t>* 본 자료는 레포지토리 .claude/agents/ 정의 및 CLAUDE.md 기반으로 작성되었습니다.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90000"/>
            <a:ext cx="7020000" cy="36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리서치·작성 에이전트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3999" y="108000"/>
            <a:ext cx="2520000" cy="34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FA 기술담당</a:t>
            </a:r>
          </a:p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(2026.06.11)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6000" y="486000"/>
            <a:ext cx="94680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540000"/>
            <a:ext cx="9468000" cy="540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tech-research-teammate는 외부 기술·경쟁사 정보를, document-writer·ppt-writer는 양식 기반 문서를 생성합니다.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1116000"/>
            <a:ext cx="827999" cy="192427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tech
-research
-teammate
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11880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글로벌 기술 동향 / 경쟁사(CATL·삼성SDI·BYD·Tesla) / TRL 평가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1411200"/>
            <a:ext cx="8568000" cy="9360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FF"/>
                </a:solidFill>
                <a:ea typeface="LG스마트체 Regular"/>
                <a:cs typeface="LG스마트체 Regular"/>
                <a:latin typeface="Arial Narrow"/>
              </a:rPr>
              <a:t> • FA 6분야 : AMR/AGV · 협동로봇 · 디지털트윈 · 스마트물류 · AI · 피지컬AI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글로벌 기술 동향 — 최신 논문·특허·산업 동향 WebSearch/Fetch로 수집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경쟁사 분석 — CATL·삼성SDI·BYD·Tesla 전략·기술 비교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TRL·적용가능성·리스크 평가 — 기술 성숙도 등급 및 도입 리스크 산정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※ 수집 자료는 references/기술자료/ · references/경쟁사/ 에 자동 아카이빙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3148276"/>
            <a:ext cx="827999" cy="1647861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document
-writer
상세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3220276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회의록 / 주간보고 / 월간보고 (templates/*.md 양식 기반)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3443476"/>
            <a:ext cx="8568000" cy="7488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templates/*.md 양식의 {{ placeholder }} 를 수집 데이터로 채워 완성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녹취록 입력 감지 시 → meeting-minutes 스킬로 자동 위임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outputs/*.md 생성 후 출처 인용 자동 검증 (TaskCompleted hook)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부족 데이터는 data-teammate / ops-teammate 에 직접 요청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4904138"/>
            <a:ext cx="827999" cy="1647861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ppt
-writer
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4976138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주간/월간 보고 PPT / 회의록 PPT (templates/*.pptx 양식 기반)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5199338"/>
            <a:ext cx="8568000" cy="7488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ppt_extract.py 로 양식 구조 추출 → {{ key }} · 빈 도형 · 표 셀 추론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values.json 작성 후 ppt_fill.py 로 텍스트 치환 (바이너리 직접 수정 금지)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이미지·SmartArt·차트 데이터는 unfilled 처리 후 사용자에게 안내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결과물은 outputs/&lt;이름&gt;_&lt;YYYY-MM-DD&gt;.pptx 로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" y="6606000"/>
            <a:ext cx="9468000" cy="1980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06600"/>
                </a:solidFill>
                <a:ea typeface="LG스마트체 Regular"/>
                <a:cs typeface="LG스마트체 Regular"/>
                <a:latin typeface="Arial Narrow"/>
              </a:rPr>
              <a:t>* 본 자료는 레포지토리 .claude/agents/ 정의 및 CLAUDE.md 기반으로 작성되었습니다.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90000"/>
            <a:ext cx="7020000" cy="36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에이전트 협업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3999" y="108000"/>
            <a:ext cx="2520000" cy="34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FA 기술담당</a:t>
            </a:r>
          </a:p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(2026.06.11)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6000" y="486000"/>
            <a:ext cx="94680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540000"/>
            <a:ext cx="9468000" cy="540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유스케이스별 에이전트 조합으로 3~5명 팀을 구성하여 병렬 수집 → 위임 작성 패턴으로 보고서를 생성합니다.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1116000"/>
            <a:ext cx="827999" cy="94139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정형
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11880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주간·월간·회의록 보고 — 3명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" y="1411200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구성 : data-teammate + ops-teammate + (document-writer 또는 ppt-writer)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흐름 : 리더가 data·ops를 병렬 스폰 → 수집 결과를 writer에 전달 → 양식 채움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산출물 : outputs/주간보고_YYYY-MM-DD.md / .pptx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2165396"/>
            <a:ext cx="827999" cy="94139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신규 과제
발굴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2237396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FA 기술 동향 조사 → 과제 후보 도출 — 4명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2460596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FF"/>
                </a:solidFill>
                <a:ea typeface="LG스마트체 Regular"/>
                <a:cs typeface="LG스마트체 Regular"/>
                <a:latin typeface="Arial Narrow"/>
              </a:rPr>
              <a:t> • 구성 : tech-research-teammate + data-teammate + ops-teammate + writer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흐름 : tech-research가 6분야 동향 수집 → data·ops가 내부 현황 조회 → writer 통합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산출물 : outputs/FA과제후보_YYYY-MM-DD.docx (fa-task-discovery 스킬)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3214792"/>
            <a:ext cx="827999" cy="941396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경쟁사
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3286792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경쟁사 분석 → KPI 재설정 — 3~4명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3509992"/>
            <a:ext cx="8568000" cy="5616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구성 : tech-research-teammate + data-teammate (+ ops-teammate 선택) + writer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흐름 : tech-research가 경쟁사(CATL·BYD·Tesla) 정보 수집 → data가 내부 KPI 비교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산출물 : outputs/경쟁사분석_YYYY-MM-DD.pptx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000" y="4264188"/>
            <a:ext cx="827999" cy="2287811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팀 운영
원칙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000" y="4336188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권장 규모·분해·병렬 수집·위임 작성·품질 게이트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116000" y="4559388"/>
          <a:ext cx="8568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6948000"/>
              </a:tblGrid>
              <a:tr h="306000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원칙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내용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</a:tr>
              <a:tr h="306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팀 규모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3~5명 / 팀원당 5~6개 작업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병렬 수집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data·ops·tech-research 동시 스폰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Plan-mode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writer는 outputs/ 쓰기 전 계획 승인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품질 게이트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출처 인용 자동 검증 (TaskCompleted hook)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데이터 소유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수치→data / 운영→ops / 리서치→tech-research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16000" y="6606000"/>
            <a:ext cx="9468000" cy="1980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06600"/>
                </a:solidFill>
                <a:ea typeface="LG스마트체 Regular"/>
                <a:cs typeface="LG스마트체 Regular"/>
                <a:latin typeface="Arial Narrow"/>
              </a:rPr>
              <a:t>* 본 자료는 레포지토리 .claude/agents/ 정의 및 CLAUDE.md 기반으로 작성되었습니다.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90000"/>
            <a:ext cx="7020000" cy="36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스킬 라이브러리 · 품질 게이트 (운영 인프라)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3999" y="108000"/>
            <a:ext cx="2520000" cy="34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FA 기술담당</a:t>
            </a:r>
          </a:p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(2026.06.11)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6000" y="486000"/>
            <a:ext cx="946800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540000"/>
            <a:ext cx="9468000" cy="540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에이전트 팀은 도메인 스킬 13종과 자동 품질 게이트 위에서 동작하여 산출물의 양식·출처·브랜드 일관성을 보장합니다.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0" y="1116000"/>
            <a:ext cx="827999" cy="2962229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도메인
스킬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6000" y="1188000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회의록·과제발굴·문서형식 등 13종 — 요청 키워드로 자동 트리거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16000" y="1411200"/>
          <a:ext cx="85680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/>
                <a:gridCol w="3528000"/>
                <a:gridCol w="2700000"/>
              </a:tblGrid>
              <a:tr h="288000"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스킬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용도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트리거 예시</a:t>
                      </a:r>
                    </a:p>
                  </a:txBody>
                  <a:tcPr marL="36000" marR="36000" marT="10800" marB="10800">
                    <a:solidFill>
                      <a:srgbClr val="C0C0C0"/>
                    </a:solidFill>
                  </a:tcPr>
                </a:tc>
              </a:tr>
              <a:tr h="288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meeting-minutes / merger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녹취록 → 회의록 PPTX / 통합 Word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"녹취록으로 회의록 만들어줘"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fa-task-discovery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FA 6분야 동향 리서치 → 과제 후보 docx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"FA 기술 동향 조사", "신규 과제 발굴"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brand-guidelines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LGES 표준 색·폰트·풋노트 자동 적용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PPT/DOCX/MD 산출물 생성 시 자동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xlsx / pdf / docx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엑셀·PDF·Word 생성·추출·편집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"엑셀로 정리", "PDF 합쳐줘"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doc-coauthoring / internal-comms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장문 문서 협업·사내 공지/주간 메일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"제안서 같이 써줘", "사내 공지"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2A2A2A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skill-creator / mcp-builder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신규 스킬 scaffold·사내 시스템 연동 PoC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ea typeface="LG스마트체 Regular"/>
                          <a:cs typeface="LG스마트체 Regular"/>
                          <a:latin typeface="Arial Narrow"/>
                        </a:rPr>
                        <a:t>"스킬 만들어줘", "MCP 서버"</a:t>
                      </a:r>
                    </a:p>
                  </a:txBody>
                  <a:tcPr marL="43200" marR="36000" marT="10800" marB="1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16000" y="4186229"/>
            <a:ext cx="827999" cy="1356412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품질
게이트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6000" y="4258229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산출물 자동 검증 — 추측 금지·출처 명시 원칙의 시스템화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6000" y="4481429"/>
            <a:ext cx="8568000" cy="7488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TaskCompleted hook — outputs/*.md 의 출처 인용((출처: ...) / [N행] / 자료 미확인) 자동 검증, 누락 시 차단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SessionStart hook — references/ 인덱스(INDEX.md) 자동 갱신 → 모든 에이전트가 작업 전 참조 자료 인지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PPT 표준 — 분류형 레이아웃 헬퍼(scripts/_ppt_layout.py) 공용 사용, 텍스트 무오버플로 자동 경고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8C8C8C"/>
                </a:solidFill>
                <a:ea typeface="LG스마트체 Regular"/>
                <a:cs typeface="LG스마트체 Regular"/>
                <a:latin typeface="Arial Narrow"/>
              </a:rPr>
              <a:t> • sentry-code-review — 신규 scripts/build_*.py 빌더의 에러 핸들링·운영 안전성 점검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5650642"/>
            <a:ext cx="827999" cy="901357"/>
          </a:xfrm>
          <a:prstGeom prst="rect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" rIns="21600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절대
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000" y="5722642"/>
            <a:ext cx="8568000" cy="2232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모든 에이전트 공통 — 4대 원칙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5945842"/>
            <a:ext cx="8568000" cy="3744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00FF"/>
                </a:solidFill>
                <a:ea typeface="LG스마트체 Regular"/>
                <a:cs typeface="LG스마트체 Regular"/>
                <a:latin typeface="Arial Narrow"/>
              </a:rPr>
              <a:t> • 추측 금지 — 자료가 없으면 "찾지 못했습니다" 명시  /  출처 명시 — 파일명·행 번호 함께 기재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ea typeface="LG스마트체 Regular"/>
                <a:cs typeface="LG스마트체 Regular"/>
                <a:latin typeface="Arial Narrow"/>
              </a:rPr>
              <a:t> • 양식(templates/) ≠ 참조 자료(references/) 구분  /  결과물은 outputs/ 에만 생성, 원본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" y="6606000"/>
            <a:ext cx="9468000" cy="198000"/>
          </a:xfrm>
          <a:prstGeom prst="rect">
            <a:avLst/>
          </a:prstGeom>
          <a:noFill/>
        </p:spPr>
        <p:txBody>
          <a:bodyPr wrap="square" lIns="43200" rIns="43200" tIns="18000" bIns="18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06600"/>
                </a:solidFill>
                <a:ea typeface="LG스마트체 Regular"/>
                <a:cs typeface="LG스마트체 Regular"/>
                <a:latin typeface="Arial Narrow"/>
              </a:rPr>
              <a:t>* 출처 : CLAUDE.md (스킬·품질 게이트·절대 원칙)  │  scripts/hooks/check_output_citations.py  │  references/policy/분류형_보고_레이아웃_표준.md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