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55999"/>
            <a:ext cx="11112119" cy="43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전 구성원 온보딩 · 30분이면 충분합니다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088000"/>
            <a:ext cx="11112119" cy="129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4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FA-Agent 시작하기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한국어로 말하면, AI 팀원 5명이 보고서를 만들어 드립니다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816000"/>
            <a:ext cx="2090700" cy="3780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✓ 코딩 몰라도 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0700" y="3816000"/>
            <a:ext cx="2932200" cy="3780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✓ 설치 없이 브라우저로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22900" y="3816000"/>
            <a:ext cx="2259000" cy="3780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✓ 준비물은 계정 2개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012000"/>
            <a:ext cx="11112119" cy="28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FA기술혁신 Part  ·  2026.06.12  ·  상세 문서: 온보딩_가이드.md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06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오늘 다룰 내용 — 4가지만 기억하세요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2</a:t>
            </a:r>
          </a:p>
        </p:txBody>
      </p:sp>
      <p:sp>
        <p:nvSpPr>
          <p:cNvPr id="5" name="Oval 4"/>
          <p:cNvSpPr/>
          <p:nvPr/>
        </p:nvSpPr>
        <p:spPr>
          <a:xfrm>
            <a:off x="630000" y="1620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124000"/>
            <a:ext cx="2589029" cy="2951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00" y="2304000"/>
            <a:ext cx="2337029" cy="259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개념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FA-Agent가 뭔가요?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등장인물 3개 · AI 팀원 5명 · 할 수 있는 일</a:t>
            </a:r>
          </a:p>
        </p:txBody>
      </p:sp>
      <p:sp>
        <p:nvSpPr>
          <p:cNvPr id="8" name="Oval 7"/>
          <p:cNvSpPr/>
          <p:nvPr/>
        </p:nvSpPr>
        <p:spPr>
          <a:xfrm>
            <a:off x="3471029" y="1620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029" y="2124000"/>
            <a:ext cx="2589029" cy="2951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7029" y="2304000"/>
            <a:ext cx="2337029" cy="259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준비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처음 1회, 계정 2개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GitHub + Claude · 약 30분 · 막히면 관리자에게</a:t>
            </a:r>
          </a:p>
        </p:txBody>
      </p:sp>
      <p:sp>
        <p:nvSpPr>
          <p:cNvPr id="11" name="Oval 10"/>
          <p:cNvSpPr/>
          <p:nvPr/>
        </p:nvSpPr>
        <p:spPr>
          <a:xfrm>
            <a:off x="6312059" y="1620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059" y="2124000"/>
            <a:ext cx="2589029" cy="2951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8059" y="2304000"/>
            <a:ext cx="2337029" cy="259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사용법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시작부터 결과 받기까지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웹으로 4단계 · 첫 명령 · 요청 문장 치트시트</a:t>
            </a:r>
          </a:p>
        </p:txBody>
      </p:sp>
      <p:sp>
        <p:nvSpPr>
          <p:cNvPr id="14" name="Oval 13"/>
          <p:cNvSpPr/>
          <p:nvPr/>
        </p:nvSpPr>
        <p:spPr>
          <a:xfrm>
            <a:off x="9153090" y="1620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3090" y="2124000"/>
            <a:ext cx="2589029" cy="2951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090" y="2304000"/>
            <a:ext cx="2337029" cy="259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규칙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안전하게 쓰기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추측 금지 · 출처 확인 · 최종 검토는 사람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1.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등장인물은 딱 3개입니다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251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어려운 용어는 비유로만 기억하면 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548000"/>
            <a:ext cx="3512039" cy="273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Claude  (클로드)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= 말귀를 알아듣는 AI 직원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한국어를 이해하고 글·문서·분석을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해 주는 인공지능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0040" y="1548000"/>
            <a:ext cx="3512039" cy="273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Claude Code  (클로드 코드)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= 그 AI 직원의 사무실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우리 팀 폴더(양식·데이터·자료)를 직접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열어 보고, 파일을 만들어 주는 작업 환경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0079" y="1548000"/>
            <a:ext cx="3512039" cy="273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GitHub  (깃허브)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= 우리 팀의 공유 캐비닛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양식·데이터·결과물 보관소.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누가 뭘 바꿨는지 자동 기록 → 항상 복구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4644000"/>
            <a:ext cx="11112119" cy="9360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4842000"/>
            <a:ext cx="10680120" cy="57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정리하면 :  캐비닛(GitHub) 속 우리 팀 자료로, 사무실(Claude Code)에서, AI 직원(Claude)이 일합니다.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여러분이 할 일은 그 직원에게 한국어로 업무 지시를 하는 것뿐입니다.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1.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우리 팀에는 AI 팀원이 5명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251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누구를 부를지 고를 필요 없음 — 팀장 AI가 알아서 적임자에게 배분합니다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2064023" cy="230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데이터 담당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KPI 진척 · 투자비(Capex) 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양산 일정(MRM) · R&amp;D(DST)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024" y="1620000"/>
            <a:ext cx="2064023" cy="230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운영 담당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협력사 현황 · HR 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결재 대기 · 사내문서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4048" y="1620000"/>
            <a:ext cx="2064023" cy="230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리서치 담당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외부 기술 동향 · 경쟁사 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신규 과제 발굴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6071" y="1620000"/>
            <a:ext cx="2064023" cy="230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문서 작성 담당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회의록 · 주간/월간보고 등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문서 양식 채움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8096" y="1620000"/>
            <a:ext cx="2064023" cy="230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PPT 담당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사내 PPT 양식 분석 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빈칸 채워 완성본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248000"/>
            <a:ext cx="11112119" cy="10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폴더는 4개만 기억하세요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templates/ 양식 보관함 (원본 불변)      sample_data/ 숫자 데이터      references/ 참고 자료 (넣으면 자동 인식)      outputs/ 결과물 수령함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AI가 만든 완성본은 전부 outputs/ 폴더에 생깁니다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1.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이런 일을 시킬 수 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548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회의록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녹취록만 주면 회의록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PPT/Word 자동 작성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0040" y="1548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주간·월간 보고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AI 팀원들이 숫자를 모아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사내 양식대로 채움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0079" y="1548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데이터 조회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KPI·투자비·양산 일정 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답변에 출처(파일·행)가 함께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456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기술 동향 조사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외부 자료 조사 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신규 과제 후보 보고서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040" y="3456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파일 작업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엑셀 정리 · PDF 표 추출 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Word 문서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0079" y="3456000"/>
            <a:ext cx="3512039" cy="165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임원 보고 PPT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사내 표준 색·폰트 적용된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보고용 슬라이드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256000"/>
            <a:ext cx="11112119" cy="43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이 모든 것을 명령어가 아니라 평소 말투의 한국어 한 문장으로 시킵니다.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2.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준비물은 계정 2개뿐입니다 (처음 1회, 약 30분)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251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이미 계정이 있으면 건너뛰면 됩니다 · 막히면 혼자 고민하지 말고 관리자에게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584000"/>
            <a:ext cx="5394060" cy="266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계정 1.  GitHub  — 공유 캐비닛 출입증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① github.com 접속 → Sign up (회사 이메일)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② 관리자에게 내 사용자 이름 전달, 초대 요청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③ 초대 메일에서 Accept invitation 클릭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④ github.com/mowonkang/FA-Agent-common 이 열리면 성공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8059" y="1584000"/>
            <a:ext cx="5394060" cy="2664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계정 2.  Claude  — AI 직원 이용권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① claude.ai 접속 → 회사 이메일로 가입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② Claude Code 권한이 포함된 시트(라이선스) 배정 요청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    · 회사 계약 → 관리자에게  /  개인 → Pro 이상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③ claude.ai 로그인이 되면 성공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536000"/>
            <a:ext cx="11112119" cy="9000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4680000"/>
            <a:ext cx="10680120" cy="64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준비 완료 체크 :   □ github.com 로그인   □ 팀 저장소 페이지 열림   □ claude.ai 로그인   □ Claude Code 시트 확인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회사 라이선스 신청 절차·담당자 연락처는 가이드 문서의 기입란에 정리 예정 (자료 미확인)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2.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걱정 마세요 — 망가뜨릴 수 없게 되어 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584000"/>
            <a:ext cx="3512039" cy="2808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0B7A3E"/>
                </a:solidFill>
                <a:ea typeface="맑은 고딕"/>
                <a:cs typeface="맑은 고딕"/>
                <a:latin typeface="맑은 고딕"/>
              </a:rPr>
              <a:t>✓ 실수해도 복구됩니다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GitHub는 모든 변경 이력을 자동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보관합니다.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잘못 눌러도 언제든 되돌릴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0040" y="1584000"/>
            <a:ext cx="3512039" cy="2808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0B7A3E"/>
                </a:solidFill>
                <a:ea typeface="맑은 고딕"/>
                <a:cs typeface="맑은 고딕"/>
                <a:latin typeface="맑은 고딕"/>
              </a:rPr>
              <a:t>✓ 마음대로 바꾸지 않습니다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AI는 파일을 만들거나 바꾸기 전에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반드시 허락을 구합니다.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이상하면 거부하면 그만입니다.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0079" y="1584000"/>
            <a:ext cx="3512039" cy="2808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0B7A3E"/>
                </a:solidFill>
                <a:ea typeface="맑은 고딕"/>
                <a:cs typeface="맑은 고딕"/>
                <a:latin typeface="맑은 고딕"/>
              </a:rPr>
              <a:t>✓ 원본은 항상 그대로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양식(templates/)과 자료(references/)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원본은 수정되지 않습니다.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결과물은 outputs/에만 생깁니다.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88000"/>
            <a:ext cx="11112119" cy="864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단, 보안은 사람의 몫 :  사외비 문서·개인정보를 붙여넣기 전에는 회사 AI 사용 지침을 확인하세요.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현재 sample_data/ 는 시연용 샘플입니다 — 실데이터 반입 전 보안/IT 검토 필수.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3.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시작은 웹에서 — 설치 프로그램 0개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251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PC·노트북·휴대폰(Claude 앱) 어디서나 같은 방법입니다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8</a:t>
            </a:r>
          </a:p>
        </p:txBody>
      </p:sp>
      <p:sp>
        <p:nvSpPr>
          <p:cNvPr id="7" name="Oval 6"/>
          <p:cNvSpPr/>
          <p:nvPr/>
        </p:nvSpPr>
        <p:spPr>
          <a:xfrm>
            <a:off x="1528515" y="1872000"/>
            <a:ext cx="396000" cy="396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412000"/>
            <a:ext cx="2373029" cy="201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556000"/>
            <a:ext cx="2157030" cy="172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claude.ai/code 접속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Claude 계정으로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7030" y="3096000"/>
            <a:ext cx="432000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41545" y="1872000"/>
            <a:ext cx="396000" cy="396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3029" y="2412000"/>
            <a:ext cx="2373029" cy="201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1030" y="2556000"/>
            <a:ext cx="2157030" cy="172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GitHub 연결 승인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최초 1회 — “접근 허용” 화면은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정상 절차, Authorize 클릭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0059" y="3096000"/>
            <a:ext cx="432000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354574" y="1872000"/>
            <a:ext cx="396000" cy="396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6059" y="2412000"/>
            <a:ext cx="2373029" cy="201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4060" y="2556000"/>
            <a:ext cx="2157030" cy="172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저장소 선택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FA-Agent-common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3090" y="3096000"/>
            <a:ext cx="432000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267605" y="1872000"/>
            <a:ext cx="396000" cy="396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9090" y="2412000"/>
            <a:ext cx="2373029" cy="2015999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7090" y="2556000"/>
            <a:ext cx="2157030" cy="1728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한국어로 지시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채팅창에 평소 말투로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업무를 말하면 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4932000"/>
            <a:ext cx="11112119" cy="79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매일 쓰는 파워유저는 PC 설치형도 가능 — 설치 명령 1줄, 절차는 온보딩_가이드.md 3장 참고 (공식 문서: code.claude.com/docs)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3.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첫 명령 — 지금 그대로 따라해 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251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팀 세팅이 정상인지 확인하는 공식 테스트 명령입니다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0000" y="1655999"/>
            <a:ext cx="9312119" cy="122400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28000" y="1854000"/>
            <a:ext cx="8736119" cy="864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“sample_data/kpi_샘플.md의 Q3 KPI를 회의록 양식으로 정리해줘.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  일시는 오늘, 참석자는 테스트 사용자.”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096000"/>
            <a:ext cx="11112119" cy="39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▼  잠시 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0000" y="3528000"/>
            <a:ext cx="9312119" cy="827999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8000" y="3726000"/>
            <a:ext cx="8736119" cy="503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B7A3E"/>
                </a:solidFill>
                <a:ea typeface="맑은 고딕"/>
                <a:cs typeface="맑은 고딕"/>
                <a:latin typeface="맑은 고딕"/>
              </a:rPr>
              <a:t>outputs/회의록_&lt;오늘날짜&gt;.md  파일이 생기면 성공 — 모든 것이 정상 동작하는 것입니다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752000"/>
            <a:ext cx="11112119" cy="1007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결과물 받기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웹 :  “결과 파일 보내줘” → 다운로드  /  “GitHub에 저장해줘” → 팀 보관      PC :  탐색기에서 outputs/ 폴더 열기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같은 양식을 같은 날 다시 만들면 파일명에 _v2, _v3 가 자동으로 붙습니다.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3.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이런 화면이 떠도 당황하지 마세요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440000"/>
            <a:ext cx="3456000" cy="21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이런 화면이 뜨면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4000" y="1440000"/>
            <a:ext cx="3491999" cy="21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이런 뜻입니다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0" y="1440000"/>
            <a:ext cx="3624119" cy="21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이렇게 하세요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710000"/>
            <a:ext cx="11112119" cy="917999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835999"/>
            <a:ext cx="3456000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“~를 실행해도 될까요?”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4000" y="1835999"/>
            <a:ext cx="349199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파일 생성·실행 전에 허락을 구하는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000" y="1835999"/>
            <a:ext cx="362411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내용 읽고 승인 — 이상하면 거부 후 “왜 필요한지 설명해줘”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772000"/>
            <a:ext cx="11112119" cy="917999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2898000"/>
            <a:ext cx="3456000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계획을 보여주며 승인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4000" y="2898000"/>
            <a:ext cx="349199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“이렇게 채우겠습니다” 하고 미리 검사받는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000" y="2898000"/>
            <a:ext cx="362411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방향이 맞으면 승인 — 아니면 “○○는 빼고 △△ 강조해줘”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834000"/>
            <a:ext cx="11112119" cy="917999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960000"/>
            <a:ext cx="3456000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“자료 미확인” 표기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4000" y="3960000"/>
            <a:ext cx="349199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근거를 못 찾았다는 정직한 보고 (지어내지 않음)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3960000"/>
            <a:ext cx="362411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자료 위치를 알려주거나, 그 칸은 사람이 채우면 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4896000"/>
            <a:ext cx="11112119" cy="917999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5022000"/>
            <a:ext cx="3456000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AI 팀원들이 일하는 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4000" y="5022000"/>
            <a:ext cx="349199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팀장이 팀원들에게 업무를 나눠준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000" y="5022000"/>
            <a:ext cx="3624119" cy="684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기다리면 됩니다 (보통 수 분 이내)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3.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복사해서 쓰는 요청 문장 — 날짜·이름만 바꾸세요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475999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“이 녹취록으로 회의록 PPT 만들어줘”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녹취록 파일은 채팅창에 끌어다 놓기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1475999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“이번 주 주간보고 작성해줘”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월간은 “5월 월간보고 작성해줘. KPI 중심으로”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700000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“KPI 진척 현황 알려줘”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투자비·양산 일정도 같은 식 — 출처가 함께 나옵니다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060" y="2700000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“FA 기술 동향 조사해서 신규 과제 후보 뽑아줘”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“AMR 동향 조사해줘”처럼 분야 지정도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924000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“이 PDF에서 표만 뽑아서 엑셀로 만들어줘”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엑셀 정리·Word 변환·사내 공지 초안도 한 문장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3924000"/>
            <a:ext cx="5412059" cy="10260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“임원 보고용 PPT 만들어줘. 메인 1장 + 보조 2장으로”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사내 표준 색·폰트가 자동 적용됩니다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256000"/>
            <a:ext cx="11112119" cy="57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“다시” · “더 짧게” · “어조를 공손하게” — 몇 번을 고쳐 시켜도 AI는 지치지 않습니다.   막히면 “네가 뭘 할 수 있는지 알려줘”라고 물어보세요.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3.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잘 시키는 요령 — 신입사원에게 지시하듯 구체적으로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1584000" cy="576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목적을 말하기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8000" y="1584000"/>
            <a:ext cx="3744000" cy="6660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“보고서 써줘”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1710000"/>
            <a:ext cx="503999" cy="43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0000" y="1584000"/>
            <a:ext cx="4992119" cy="666000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“다음주 월요일 그룹장 보고용 주간보고 써줘”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02000"/>
            <a:ext cx="1584000" cy="576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기준·범위 주기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8000" y="2466000"/>
            <a:ext cx="3744000" cy="6660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“KPI 알려줘”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3999" y="2592000"/>
            <a:ext cx="503999" cy="43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0000" y="2466000"/>
            <a:ext cx="4992119" cy="666000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“Q3 KPI 진척률을 목표 대비로 알려줘”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384000"/>
            <a:ext cx="1584000" cy="576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형식을 지정하기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8000" y="3348000"/>
            <a:ext cx="3744000" cy="6660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“정리해줘”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3999" y="3474000"/>
            <a:ext cx="503999" cy="43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0000" y="3348000"/>
            <a:ext cx="4992119" cy="666000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“표 1개 + 요약 3줄로 정리해줘”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410000"/>
            <a:ext cx="11112119" cy="1152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그 밖의 요령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· 아는 값은 직접 주기 — “작성자는 김OO, 일시는 6/12 14시로 넣어줘”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· 한 번에 한 묶음 — 회의록 먼저, 끝나면 다음 요청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· 파일 주기 — 웹은 끌어다 놓기(드래그&amp;드롭), PC는 폴더에 넣고 경로 말하기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4.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꼭 지킬 것 4가지 — 시스템도 자동으로 지켜줍니다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13</a:t>
            </a:r>
          </a:p>
        </p:txBody>
      </p:sp>
      <p:sp>
        <p:nvSpPr>
          <p:cNvPr id="6" name="Oval 5"/>
          <p:cNvSpPr/>
          <p:nvPr/>
        </p:nvSpPr>
        <p:spPr>
          <a:xfrm>
            <a:off x="630000" y="1548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052000"/>
            <a:ext cx="2589029" cy="288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추측 금지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AI는 자료가 없으면 지어내는 대신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“자료 미확인”이라고 적습니다.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사람도 그 칸을 임의로 채우지 않기</a:t>
            </a:r>
          </a:p>
        </p:txBody>
      </p:sp>
      <p:sp>
        <p:nvSpPr>
          <p:cNvPr id="8" name="Oval 7"/>
          <p:cNvSpPr/>
          <p:nvPr/>
        </p:nvSpPr>
        <p:spPr>
          <a:xfrm>
            <a:off x="3471029" y="1548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029" y="2052000"/>
            <a:ext cx="2589029" cy="288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출처 확인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답변에는 (출처: 파일명 [행])이 붙고,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출처 없는 보고서는 자동 차단됩니다.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보고 전 원본 숫자와 대조하기</a:t>
            </a:r>
          </a:p>
        </p:txBody>
      </p:sp>
      <p:sp>
        <p:nvSpPr>
          <p:cNvPr id="10" name="Oval 9"/>
          <p:cNvSpPr/>
          <p:nvPr/>
        </p:nvSpPr>
        <p:spPr>
          <a:xfrm>
            <a:off x="6312059" y="1548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059" y="2052000"/>
            <a:ext cx="2589029" cy="288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원본 보존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양식·참고자료 원본은 불변,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결과물은 outputs/에만 생깁니다.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원본을 직접 고치지 않기</a:t>
            </a:r>
          </a:p>
        </p:txBody>
      </p:sp>
      <p:sp>
        <p:nvSpPr>
          <p:cNvPr id="12" name="Oval 11"/>
          <p:cNvSpPr/>
          <p:nvPr/>
        </p:nvSpPr>
        <p:spPr>
          <a:xfrm>
            <a:off x="9153090" y="1548000"/>
            <a:ext cx="378000" cy="378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090" y="2052000"/>
            <a:ext cx="2589029" cy="288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최종 책임은 사람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AI 산출물은 어디까지나 초안입니다.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 결재·보고 전 검토는 작성자의 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5148000"/>
            <a:ext cx="11112119" cy="503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보안 :  사외비·개인정보 입력 전 회사 AI 지침 확인 · 외부 서비스 연동은 보안/IT 검토 후에만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259200"/>
            <a:ext cx="1655999" cy="306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4.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30000"/>
            <a:ext cx="11112119" cy="54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자주 묻는 질문 — 대부분 한 문장이면 해결됩니다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332000"/>
            <a:ext cx="11112119" cy="0"/>
          </a:xfrm>
          <a:prstGeom prst="line">
            <a:avLst/>
          </a:prstGeom>
          <a:ln w="1270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52119" y="6588000"/>
            <a:ext cx="2700000" cy="18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FA-Agent 온보딩 (온보딩_가이드.md 기반)  ·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84000"/>
            <a:ext cx="5256000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Q.  영어로 써야 하나요? 명령어를 외워야 하나요?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2000" y="1584000"/>
            <a:ext cx="5640119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A.  아니요. 전부 한국어 평소 말투로 — 외울 명령어는 없습니다.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0000" y="2304000"/>
            <a:ext cx="11112119" cy="0"/>
          </a:xfrm>
          <a:prstGeom prst="line">
            <a:avLst/>
          </a:prstGeom>
          <a:ln w="9525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0000" y="2430000"/>
            <a:ext cx="5256000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Q.  “작업 완료가 차단되었습니다(missing_citations)”라고 떠요.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2000" y="2430000"/>
            <a:ext cx="5640119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A.  출처 인용이 빠졌다는 뜻 → “누락된 출처를 추가해줘” 한마디면 해결.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0000" y="3150000"/>
            <a:ext cx="11112119" cy="0"/>
          </a:xfrm>
          <a:prstGeom prst="line">
            <a:avLst/>
          </a:prstGeom>
          <a:ln w="9525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0000" y="3276000"/>
            <a:ext cx="5256000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Q.  어제 세션을 이어갔더니 AI 팀원이 사라졌어요.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000" y="3276000"/>
            <a:ext cx="5640119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A.  알려진 제한 → “팀원을 다시 생성해줘” 하면 같은 구성으로 복원.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0000" y="3996000"/>
            <a:ext cx="11112119" cy="0"/>
          </a:xfrm>
          <a:prstGeom prst="line">
            <a:avLst/>
          </a:prstGeom>
          <a:ln w="9525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0000" y="4121999"/>
            <a:ext cx="5256000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Q.  PPT 일부 칸이 빈 채로 나와요.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2000" y="4121999"/>
            <a:ext cx="5640119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A.  근거 없는 칸은 추측 대신 비워둔 것 → 값을 알려주고 다시 시키면 됩니다.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0000" y="4842000"/>
            <a:ext cx="11112119" cy="0"/>
          </a:xfrm>
          <a:prstGeom prst="line">
            <a:avLst/>
          </a:prstGeom>
          <a:ln w="9525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0000" y="4968000"/>
            <a:ext cx="5256000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Q.  응답이 멈췄거나 이상해요.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000" y="4968000"/>
            <a:ext cx="5640119" cy="648000"/>
          </a:xfrm>
          <a:prstGeom prst="rect">
            <a:avLst/>
          </a:prstGeom>
          <a:noFill/>
        </p:spPr>
        <p:txBody>
          <a:bodyPr wrap="square" lIns="36000" rIns="36000" tIns="14400" bIns="144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A.  Esc(정지) 후 다시 지시 → 새 세션에서 “아까 하던 ○○ 이어서 해줘”.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0000" y="5688000"/>
            <a:ext cx="11112119" cy="0"/>
          </a:xfrm>
          <a:prstGeom prst="line">
            <a:avLst/>
          </a:prstGeom>
          <a:ln w="9525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0000" y="5885999"/>
            <a:ext cx="11112119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그 밖의 모든 문제 → 관리자에게 (연락처는 가이드 기입란 — 자료 미확인) · 공식 문서(한국어) code.claude.com/docs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11112119" cy="936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오늘 바로 시작해 보세요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 3단계면 오늘 첫 보고서를 받을 수 있습니다</a:t>
            </a:r>
          </a:p>
        </p:txBody>
      </p:sp>
      <p:sp>
        <p:nvSpPr>
          <p:cNvPr id="4" name="Oval 3"/>
          <p:cNvSpPr/>
          <p:nvPr/>
        </p:nvSpPr>
        <p:spPr>
          <a:xfrm>
            <a:off x="1984020" y="2592000"/>
            <a:ext cx="432000" cy="43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168000"/>
            <a:ext cx="3320040" cy="129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348000"/>
            <a:ext cx="3104040" cy="1007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claude.ai/code 로그인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저장소 FA-Agent-common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040" y="3600000"/>
            <a:ext cx="432000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5880059" y="2592000"/>
            <a:ext cx="432000" cy="43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6040" y="3168000"/>
            <a:ext cx="3320040" cy="129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040" y="3348000"/>
            <a:ext cx="3104040" cy="1007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첫 명령 복사·붙여넣기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9쪽의 동작 확인 명령 그대로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6079" y="3600000"/>
            <a:ext cx="432000" cy="360000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ea typeface="맑은 고딕"/>
                <a:cs typeface="맑은 고딕"/>
                <a:latin typeface="맑은 고딕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776099" y="2592000"/>
            <a:ext cx="432000" cy="43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ea typeface="맑은 고딕"/>
                <a:cs typeface="맑은 고딕"/>
                <a:latin typeface="맑은 고딕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2080" y="3168000"/>
            <a:ext cx="3320040" cy="129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162000" tIns="108000" bIns="90000"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0080" y="3348000"/>
            <a:ext cx="3104040" cy="1007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outputs/ 에서 결과 확인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이후엔 치트시트(11쪽)로 실전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5040000"/>
            <a:ext cx="11112119" cy="1007999"/>
          </a:xfrm>
          <a:prstGeom prst="rect">
            <a:avLst/>
          </a:prstGeom>
          <a:noFill/>
        </p:spPr>
        <p:txBody>
          <a:bodyPr wrap="square" lIns="36000" rIns="36000" tIns="14400" bIns="1440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더 자세히 :  저장소의 「온보딩_가이드.md」 (배포용 Word 사본 outputs/FA-Agent_온보딩_가이드_*.docx)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ea typeface="맑은 고딕"/>
                <a:cs typeface="맑은 고딕"/>
                <a:latin typeface="맑은 고딕"/>
              </a:rPr>
              <a:t>문의 :  관리자 [담당자 연락처 기입란 — 자료 미확인]   ·   공식 문서(한국어) code.claude.com/docs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ea typeface="맑은 고딕"/>
                <a:cs typeface="맑은 고딕"/>
                <a:latin typeface="맑은 고딕"/>
              </a:rPr>
              <a:t>본 자료 출처 : 온보딩_가이드.md · CLAUDE.md · README.md [106~113·149~158·186~196행] — 2026.06.12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