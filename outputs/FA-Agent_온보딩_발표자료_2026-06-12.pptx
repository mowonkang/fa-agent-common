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907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90000"/>
            <a:ext cx="7020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FA-Agent 온보딩 — 전 구성원 사용 가이드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63999" y="108000"/>
            <a:ext cx="2520000" cy="34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FA기술혁신 Part</a:t>
            </a:r>
          </a:p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(2026.06.12)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16000" y="486000"/>
            <a:ext cx="9468000" cy="0"/>
          </a:xfrm>
          <a:prstGeom prst="line">
            <a:avLst/>
          </a:prstGeom>
          <a:ln w="952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16000" y="540000"/>
            <a:ext cx="9468000" cy="540000"/>
          </a:xfrm>
          <a:prstGeom prst="rect">
            <a:avLst/>
          </a:prstGeom>
          <a:noFill/>
        </p:spPr>
        <p:txBody>
          <a:bodyPr wrap="square" lIns="43200" rIns="43200" tIns="18000" bIns="18000" anchor="t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한국어로 말하면 AI 팀원 5명이 사내 양식대로 보고서를 만들어 주는 시스템입니다.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처음 1회 계정 2개 준비(약 30분) 후에는, 채팅 한 문장으로 회의록·주간보고·동향조사를 시킬 수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216000" y="1116000"/>
            <a:ext cx="827999" cy="12780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1
무엇인가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1188000"/>
            <a:ext cx="8568000" cy="2232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Claude(AI 직원) + Claude Code(작업 환경) + GitHub(팀 공유 저장소) 위에 구축된 AI 팀원 5명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1411200"/>
            <a:ext cx="8568000" cy="3744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데이터·운영·리서치·문서·PPT 5개 역할 분담 — 팀장(메인 세션)이 적임자에게 자동 배분 (→ 보조 1)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FF"/>
                </a:solidFill>
                <a:ea typeface="LG스마트체 Regular"/>
                <a:cs typeface="LG스마트체 Regular"/>
                <a:latin typeface="Arial Narrow"/>
              </a:rPr>
              <a:t> • 코드·명령어 학습 불필요 — 평소 말투의 한국어로 업무를 지시하면 됩니다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2501999"/>
            <a:ext cx="827999" cy="12780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2
준비
(1회)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74000"/>
            <a:ext cx="8568000" cy="2232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계정 2개만 준비하면 끝 — GitHub(저장소 초대) + Claude(시트 배정), 약 30분 (→ 보조 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6000" y="2797200"/>
            <a:ext cx="8568000" cy="3744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GitHub 가입 → 관리자에게 FA-Agent-common 초대 요청 → 초대 수락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Claude 가입 → Claude Code 권한 포함 시트 배정 (회사 신청 절차는 담당자 확인 — 자료 미확인)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6000" y="3887999"/>
            <a:ext cx="827999" cy="12780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3
사용법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6000" y="3959999"/>
            <a:ext cx="8568000" cy="2232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웹(claude.ai/code) 권장 — 브라우저 로그인만으로 시작, 결과물은 outputs/ 폴더 (→ 보조 3·4)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4183199"/>
            <a:ext cx="8568000" cy="3744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FF"/>
                </a:solidFill>
                <a:ea typeface="LG스마트체 Regular"/>
                <a:cs typeface="LG스마트체 Regular"/>
                <a:latin typeface="Arial Narrow"/>
              </a:rPr>
              <a:t> • 설치 프로그램 0개 — 첫 명령 한 문장으로 5분 안에 동작 확인까지 가능합니다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회의록·주간/월간보고·KPI 조회·기술동향·엑셀/PDF 등 복사해 쓰는 요청 문장 치트시트 제공 (→ 보조 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6000" y="5273999"/>
            <a:ext cx="827999" cy="12780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" rIns="216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4
규칙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000" y="5345999"/>
            <a:ext cx="8568000" cy="2232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추측 금지 · 출처 명시 · 원본 보존 — 시스템이 자동 검증, 최종 검토 책임은 사람 (→ 보조 6·7)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6000" y="5569199"/>
            <a:ext cx="8568000" cy="3744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FF"/>
                </a:solidFill>
                <a:ea typeface="LG스마트체 Regular"/>
                <a:cs typeface="LG스마트체 Regular"/>
                <a:latin typeface="Arial Narrow"/>
              </a:rPr>
              <a:t> • 출처 인용이 없는 보고서는 자동 차단 — 모든 숫자는 원본 대조 후 보고합니다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사외비·개인정보 입력 전 회사 AI 보안 지침 확인 (현재 데이터는 시연용 샘플)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000" y="6606000"/>
            <a:ext cx="9468000" cy="198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006600"/>
                </a:solidFill>
                <a:ea typeface="LG스마트체 Regular"/>
                <a:cs typeface="LG스마트체 Regular"/>
                <a:latin typeface="Arial Narrow"/>
              </a:rPr>
              <a:t>* 출처 : 온보딩_가이드.md (리포 루트, 2026-06-12) · CLAUDE.md "에이전트 5명"·"절대 원칙" · README.md [106~113·149~158·186~189행]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90000"/>
            <a:ext cx="7020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[보조 1/7] 개념 — 등장인물 3개와 AI 팀원 5명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63999" y="108000"/>
            <a:ext cx="2520000" cy="34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FA기술혁신 Part</a:t>
            </a:r>
          </a:p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(2026.06.12)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16000" y="486000"/>
            <a:ext cx="9468000" cy="0"/>
          </a:xfrm>
          <a:prstGeom prst="line">
            <a:avLst/>
          </a:prstGeom>
          <a:ln w="952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16000" y="5760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등장인물 3개 — 이것만 알면 됩니다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16000" y="828000"/>
          <a:ext cx="9467999" cy="11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999"/>
                <a:gridCol w="2376000"/>
                <a:gridCol w="5076000"/>
              </a:tblGrid>
              <a:tr h="288000"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이름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비유하자면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하는 일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</a:tr>
              <a:tr h="2880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Claude (클로드)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말귀를 알아듣는 AI 직원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한국어를 이해하고 글·문서·분석을 수행하는 인공지능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Claude Code (클로드 코드)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그 AI 직원의 사무실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팀 폴더(양식·데이터·자료)를 직접 열어 보고 파일을 만들어 주는 작업 환경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GitHub (깃허브)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우리 팀의 공유 캐비닛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양식·데이터·결과물 보관 + 변경 이력 자동 기록 (언제든 되돌리기 가능)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16000" y="20880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AI 팀원 5명 — 누구를 부를지 고를 필요 없음 (팀장이 자동 배분)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16000" y="2340000"/>
          <a:ext cx="9468000" cy="16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1440000"/>
                <a:gridCol w="5868000"/>
              </a:tblGrid>
              <a:tr h="270000"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팀원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역할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담당 업무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</a:tr>
              <a:tr h="2700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data-teammate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데이터 담당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KPI 진척 · Capex(투자비) · MRM(양산 일정) · DST(R&amp;D 진척) 숫자 조회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ops-teammate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운영 담당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협력사 현황 · HR(출장/교육/포상) · 결재 대기 · 사내문서 검색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tech-research-teammate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리서치 담당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외부 기술 동향 · 경쟁사 · 신규 과제 발굴 (AMR/협동로봇/디지털트윈/AI 등)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document-writer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문서 작성 담당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회의록·주간/월간보고 등 markdown 문서 양식 채움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ppt-writer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PPT 담당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사내 PPT 양식 분석·빈칸 채움 (LGES 표준 색·폰트 자동 적용)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16000" y="40680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폴더 4개 — 어디에 무엇이 있나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16000" y="4320000"/>
          <a:ext cx="9467999" cy="1259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999"/>
                <a:gridCol w="7812000"/>
              </a:tblGrid>
              <a:tr h="251999"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폴더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의미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</a:tr>
              <a:tr h="251999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templates/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양식 보관함 — 회의록·보고서 빈 양식 (원본은 절대 수정되지 않음)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51999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sample_data/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숫자 데이터 — KPI·협력사·투자비 등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51999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references/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참고 자료 — 로드맵·정책·과거 회의록·기술자료 (넣기만 하면 자동 인식)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51999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outputs/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결과물 수령함 — AI가 만든 완성본은 전부 여기 생성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216000" y="6606000"/>
            <a:ext cx="9468000" cy="198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006600"/>
                </a:solidFill>
                <a:ea typeface="LG스마트체 Regular"/>
                <a:cs typeface="LG스마트체 Regular"/>
                <a:latin typeface="Arial Narrow"/>
              </a:rPr>
              <a:t>* 출처 : 온보딩_가이드.md §1 · CLAUDE.md "에이전트 5명"·"폴더 구조" · .claude/agents/ 5개 정의 파일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90000"/>
            <a:ext cx="7020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[보조 2/7] 처음 1회 준비 — 계정 2개, 약 30분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63999" y="108000"/>
            <a:ext cx="2520000" cy="34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FA기술혁신 Part</a:t>
            </a:r>
          </a:p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(2026.06.12)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16000" y="486000"/>
            <a:ext cx="9468000" cy="0"/>
          </a:xfrm>
          <a:prstGeom prst="line">
            <a:avLst/>
          </a:prstGeom>
          <a:ln w="952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16000" y="5760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준비 절차 — 막히면 혼자 고민하지 말고 관리자에게 요청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16000" y="828000"/>
          <a:ext cx="9468000" cy="17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/>
                <a:gridCol w="4104000"/>
                <a:gridCol w="4068000"/>
              </a:tblGrid>
              <a:tr h="342000"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단계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할 일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비고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</a:tr>
              <a:tr h="3420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① GitHub 가입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github.com → Sign up → 이메일 인증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사용자 이름은 동료가 알아볼 수 있게 (예: hong-gildong-lges)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② 저장소 초대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관리자에게 GitHub 이름 전달 → 초대 메일에서 Accept invitation 클릭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github.com/mowonkang/FA-Agent-common 이 열리면 성공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③ Claude 가입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claude.ai → 회사 이메일로 가입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—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④ 시트 배정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Claude Code 권한이 포함된 요금제/시트 확인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회사 계약: 관리자에게 요청 / 개인: Pro 이상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16000" y="26460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준비 완료 체크리스트 — 4개 모두 ✓ 면 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000" y="2905200"/>
            <a:ext cx="9432000" cy="522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□ github.com 에 로그인할 수 있다          □ github.com/mowonkang/FA-Agent-common 페이지가 열린다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□ claude.ai 에 로그인할 수 있다           □ Claude Code 권한이 있는 시트를 배정받았다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35352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안심 포인트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4000" y="3794399"/>
            <a:ext cx="9432000" cy="792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잘못 눌러도 팀 자료는 망가지지 않습니다 — GitHub 는 모든 변경 이력을 보관하며 언제든 복구할 수 있습니다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AI 는 파일을 바꾸기 전에 항상 허락을 구하도록 설정되어 있습니다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8C8C8C"/>
                </a:solidFill>
                <a:ea typeface="LG스마트체 Regular"/>
                <a:cs typeface="LG스마트체 Regular"/>
                <a:latin typeface="Arial Narrow"/>
              </a:rPr>
              <a:t> • 회사 라이선스 신청 절차·보안 지침·담당자 연락처는 가이드 문서의 기입란에 추가 예정 (자료 미확인)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" y="6606000"/>
            <a:ext cx="9468000" cy="198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006600"/>
                </a:solidFill>
                <a:ea typeface="LG스마트체 Regular"/>
                <a:cs typeface="LG스마트체 Regular"/>
                <a:latin typeface="Arial Narrow"/>
              </a:rPr>
              <a:t>* 출처 : 온보딩_가이드.md §2 (계정 준비 절차·체크리스트)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90000"/>
            <a:ext cx="7020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[보조 3/7] 사용 방법 선택 — 웹(권장) vs PC 설치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63999" y="108000"/>
            <a:ext cx="2520000" cy="34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FA기술혁신 Part</a:t>
            </a:r>
          </a:p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(2026.06.12)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16000" y="486000"/>
            <a:ext cx="9468000" cy="0"/>
          </a:xfrm>
          <a:prstGeom prst="line">
            <a:avLst/>
          </a:prstGeom>
          <a:ln w="952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16000" y="5760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두 가지 길 — 처음이라면 방법 A(웹) 권장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16000" y="828000"/>
          <a:ext cx="9468000" cy="155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/>
                <a:gridCol w="4104000"/>
                <a:gridCol w="3924000"/>
              </a:tblGrid>
              <a:tr h="259200"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항목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방법 A : 웹에서 사용 (권장)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방법 B : 내 PC에 설치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</a:tr>
              <a:tr h="2592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설치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없음 (브라우저만)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Claude Code 프로그램 + 팀 폴더 내려받기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난이도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쉬움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중간 (안내대로 하면 가능)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결과물 받기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화면에서 다운로드 / GitHub 에 저장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내 PC 폴더(outputs/)에서 바로 열기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사용 장소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PC·노트북·휴대폰(Claude 앱)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설치한 PC에서만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추천 대상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모든 구성원, 특히 첫 사용자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매일 쓰는 파워유저·관리자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16000" y="24912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방법 A 시작 4단계 — 설치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000" y="2750400"/>
            <a:ext cx="9432000" cy="774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① claude.ai/code 접속·로그인   ② GitHub 계정 연결 승인 (최초 1회)   ③ 저장소 FA-Agent-common 선택   ④ 한국어로 업무 지시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8C8C8C"/>
                </a:solidFill>
                <a:ea typeface="LG스마트체 Regular"/>
                <a:cs typeface="LG스마트체 Regular"/>
                <a:latin typeface="Arial Narrow"/>
              </a:rPr>
              <a:t> • "Claude 가 GitHub 에 접근하도록 허용할까요?" 화면은 정상 절차 — 승인(Authorize)하면 됩니다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8C8C8C"/>
                </a:solidFill>
                <a:ea typeface="LG스마트체 Regular"/>
                <a:cs typeface="LG스마트체 Regular"/>
                <a:latin typeface="Arial Narrow"/>
              </a:rPr>
              <a:t> • 휴대폰 Claude 앱에서도 같은 세션 사용 가능 — 출장 중 "주간보고 초안 잡아줘" 가능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36324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방법 B 요약 — 파워유저·관리자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4000" y="3891600"/>
            <a:ext cx="9432000" cy="827999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① 설치 명령 1줄 : Windows PowerShell 「irm https://claude.ai/install.ps1 | iex」 · Mac 터미널 「curl -fsSL https://claude.ai/install.sh | bash」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② 팀 폴더 내려받기 : GitHub Desktop(클릭만으로) 또는 git clone   ③ Python 3 + pip install -r requirements.txt (PPT 기능)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④ 폴더에서 claude 실행 → 브라우저 로그인 → 사용 시작 (최신 안내: code.claude.com/docs)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" y="6606000"/>
            <a:ext cx="9468000" cy="198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006600"/>
                </a:solidFill>
                <a:ea typeface="LG스마트체 Regular"/>
                <a:cs typeface="LG스마트체 Regular"/>
                <a:latin typeface="Arial Narrow"/>
              </a:rPr>
              <a:t>* 출처 : 온보딩_가이드.md §3 · README.md [149~158행] (사전 설치 요구사항) · 설치 절차는 공식 문서 기준, 화면은 업데이트로 달라질 수 있음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90000"/>
            <a:ext cx="7020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[보조 4/7] 첫 사용 5분 — 동작 확인과 화면 대응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63999" y="108000"/>
            <a:ext cx="2520000" cy="34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FA기술혁신 Part</a:t>
            </a:r>
          </a:p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(2026.06.12)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16000" y="486000"/>
            <a:ext cx="9468000" cy="0"/>
          </a:xfrm>
          <a:prstGeom prst="line">
            <a:avLst/>
          </a:prstGeom>
          <a:ln w="952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16000" y="5760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첫 명령 — 그대로 복사해 붙여넣으세요 (공식 동작 확인 명령)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835200"/>
            <a:ext cx="9432000" cy="522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2A2A2A"/>
                </a:solidFill>
                <a:ea typeface="LG스마트체 Regular"/>
                <a:cs typeface="LG스마트체 Regular"/>
                <a:latin typeface="Arial Narrow"/>
              </a:rPr>
              <a:t> "sample_data/kpi_샘플.md의 Q3 KPI를 회의록 양식으로 정리해줘. 일시는 오늘, 참석자는 테스트 사용자."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8C8C8C"/>
                </a:solidFill>
                <a:ea typeface="LG스마트체 Regular"/>
                <a:cs typeface="LG스마트체 Regular"/>
                <a:latin typeface="Arial Narrow"/>
              </a:rPr>
              <a:t> → 잠시 후 outputs/회의록_&lt;오늘날짜&gt;.md 파일이 생기면 모든 것이 정상 동작하는 것입니다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216000" y="14652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사용 중 화면에서 만나는 것들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16000" y="1717200"/>
          <a:ext cx="9467999" cy="17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3311999"/>
                <a:gridCol w="3636000"/>
              </a:tblGrid>
              <a:tr h="342000"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상황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의미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어떻게 하나요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</a:tr>
              <a:tr h="3420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"~를 실행해도 될까요?" 권한 질문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파일 생성·프로그램 실행 전 허락을 구하는 것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내용 읽고 승인 — 이상하면 거부 후 "왜 필요한지 설명해줘"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계획(Plan)을 보여주며 승인 요청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쓰기 전에 "이렇게 채우겠습니다" 검사받는 것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방향이 맞으면 승인, 아니면 "○○는 빼고 △△ 강조해줘"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AI 팀원들이 일하는 표시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팀장이 데이터/작성 팀원에게 업무 배분 중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기다리면 됩니다 (보통 수 분 이내)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"자료 미확인" 표기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근거 자료를 못 찾았다는 정직한 보고 (지어내지 않음)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자료 위치를 알려주거나, 그대로 두고 사람이 채움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16000" y="35352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결과물 받기 · 대화 이어가기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4000" y="3794399"/>
            <a:ext cx="9432000" cy="792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결과물은 항상 outputs/ 폴더 — 파일명 「양식이름_YYYY-MM-DD」, 같은 날 다시 만들면 _v2·_v3 자동 부여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웹 : "결과 파일 보내줘"(다운로드) · "GitHub에 저장해줘"(팀 보관)   /   PC : 탐색기에서 outputs/ 폴더 열기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수정은 그냥 말하기 ("두 번째 섹션 3줄로 줄여줘") · 중지 Esc · 이어가기는 세션 목록 또는 claude --resume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" y="6606000"/>
            <a:ext cx="9468000" cy="198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006600"/>
                </a:solidFill>
                <a:ea typeface="LG스마트체 Regular"/>
                <a:cs typeface="LG스마트체 Regular"/>
                <a:latin typeface="Arial Narrow"/>
              </a:rPr>
              <a:t>* 출처 : 온보딩_가이드.md §4 · README.md [106~113행] (동작 확인 명령) · [186~189행] (결과물 위치 규칙)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90000"/>
            <a:ext cx="7020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[보조 5/7] 업무별 요청 문장 치트시트 — 복사해서 쓰세요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63999" y="108000"/>
            <a:ext cx="2520000" cy="34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FA기술혁신 Part</a:t>
            </a:r>
          </a:p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(2026.06.12)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16000" y="486000"/>
            <a:ext cx="9468000" cy="0"/>
          </a:xfrm>
          <a:prstGeom prst="line">
            <a:avLst/>
          </a:prstGeom>
          <a:ln w="952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16000" y="5760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날짜·이름만 바꿔 그대로 쓰면 됩니다 (따옴표·특수기호 불필요)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16000" y="828000"/>
          <a:ext cx="9467999" cy="336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/>
                <a:gridCol w="2015999"/>
                <a:gridCol w="6372000"/>
              </a:tblGrid>
              <a:tr h="280800"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분야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하고 싶은 일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이렇게 말하세요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</a:tr>
              <a:tr h="2808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회의록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녹취록 → 회의록 PPT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"이 녹취록으로 회의록 PPT 만들어줘" (녹취록 첨부/붙여넣기)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회의록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녹취록 + OneNote 통합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"녹취록이랑 OneNote 메모 합쳐서 Word 회의록으로 정리해줘"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정기 보고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주간·월간보고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"이번 주 주간보고 작성해줘" · "5월 월간보고 작성해줘. KPI 중심으로"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정기 보고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임원 보고 PPT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"○○ 건으로 임원 보고용 PPT 만들어줘. 메인 1장 + 보조 2장으로"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데이터 조회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KPI·투자비·양산 일정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"KPI 진척 현황 알려줘" · "Capex 집행 현황 정리해줘" · "MRM 일정 요약해줘"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데이터 조회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협력사·결재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"협력사 현황이랑 이슈 정리해줘" · "내 결재 대기 목록 보여줘"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기술 동향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종합 브리핑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"FA 기술 동향 조사해서 신규 과제 후보 뽑아줘"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기술 동향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분야 지정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"AMR 최신 동향 조사해줘" · "협동로봇 트렌드 정리해줘"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파일 작업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엑셀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"이 데이터 엑셀로 정리해줘" · "KPI 트래커 시트 만들어줘"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파일 작업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PDF·Word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"이 PDF에서 표만 뽑아서 엑셀로 만들어줘" · "이 내용 목차 포함 Word로 만들어줘"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파일 작업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사내 공지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"이 내용으로 사내 공지문 초안 써줘"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16000" y="43056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파일 주는 법 · 다시 시키는 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000" y="4564800"/>
            <a:ext cx="9432000" cy="792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파일 주기 : 웹은 채팅창에 끌어다 놓기(드래그&amp;드롭) / PC 는 폴더에 넣고 경로를 말하거나 끌어다 놓기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"다시"·"더 짧게"·"어조를 공손하게" — 몇 번을 고쳐 시켜도 AI 는 지치지 않습니다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모르면 AI 에게 직접 물어보세요 : "네가 뭘 할 수 있는지 알려줘" · "이 저장소에 어떤 양식이 있어?"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000" y="6606000"/>
            <a:ext cx="9468000" cy="198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006600"/>
                </a:solidFill>
                <a:ea typeface="LG스마트체 Regular"/>
                <a:cs typeface="LG스마트체 Regular"/>
                <a:latin typeface="Arial Narrow"/>
              </a:rPr>
              <a:t>* 출처 : 온보딩_가이드.md §5 · CLAUDE.md "스킬" 절 (.claude/skills/ 14종 기준 요청 예시)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90000"/>
            <a:ext cx="7020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[보조 6/7] 잘 쓰는 요령과 팀 규칙·보안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63999" y="108000"/>
            <a:ext cx="2520000" cy="34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FA기술혁신 Part</a:t>
            </a:r>
          </a:p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(2026.06.12)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16000" y="486000"/>
            <a:ext cx="9468000" cy="0"/>
          </a:xfrm>
          <a:prstGeom prst="line">
            <a:avLst/>
          </a:prstGeom>
          <a:ln w="952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16000" y="5760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잘 쓰는 요령 — 신입사원에게 일을 시키듯 구체적으로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16000" y="828000"/>
          <a:ext cx="9467999" cy="155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999"/>
                <a:gridCol w="2592000"/>
                <a:gridCol w="5220000"/>
              </a:tblGrid>
              <a:tr h="259200"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원칙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아쉬운 요청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좋은 요청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</a:tr>
              <a:tr h="2592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목적을 말하기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"보고서 써줘"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"다음주 월요일 그룹장 보고용 주간보고 써줘"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기준·범위 주기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"KPI 알려줘"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"Q3 KPI 진척률을 목표 대비로 알려줘"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아는 값은 직접 주기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(작성자를 비워둠)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"작성자는 김OO, 일시는 6/12 14시로 넣어줘"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형식을 지정하기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"정리해줘"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"표 1개 + 요약 3줄로 정리해줘"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한 번에 한 묶음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세 가지 일을 한 문장에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회의록 먼저 → 끝나면 다음 요청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16000" y="24912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팀 절대 원칙 4 — 시스템이 자동으로 강제합니다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000" y="2750400"/>
            <a:ext cx="9432000" cy="972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① 추측 금지 — 자료가 없으면 지어내는 대신 "자료 미확인"으로 표기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② 출처 명시 — 답변에 (출처: 파일명 [행 번호]) 부착, 출처 없는 보고서는 품질 게이트가 완료를 자동 차단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③ 원본 보존 — templates/(양식)·references/(자료) 불변, 결과물은 outputs/ 에만 생성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④ 최종 책임은 사람 — AI 산출물은 초안, 결재·보고 전 원본 대조와 검토는 작성자의 몫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38304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보안 주의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4000" y="4089600"/>
            <a:ext cx="9432000" cy="792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현재 sample_data/ 는 시연용 샘플 — 실제 사외비 데이터 반입 전 보안/IT 검토 필수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사외비 문서·개인정보를 붙여넣기 전 회사 AI 사용 지침 확인 (지침 링크는 가이드 기입란에 추가 예정 — 자료 미확인)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외부 서비스 연동(스크래핑 키 등)은 보안/IT 검토 후에만 활성화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" y="6606000"/>
            <a:ext cx="9468000" cy="198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006600"/>
                </a:solidFill>
                <a:ea typeface="LG스마트체 Regular"/>
                <a:cs typeface="LG스마트체 Regular"/>
                <a:latin typeface="Arial Narrow"/>
              </a:rPr>
              <a:t>* 출처 : 온보딩_가이드.md §6~7 · CLAUDE.md "절대 원칙" · scripts/hooks/check_output_citations.py [1~16행] (인용 자동 검증 규칙)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6000" y="90000"/>
            <a:ext cx="7020000" cy="360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[보조 7/7] FAQ·문제 해결 — 그리고 오늘 시작하기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63999" y="108000"/>
            <a:ext cx="2520000" cy="342000"/>
          </a:xfrm>
          <a:prstGeom prst="rect">
            <a:avLst/>
          </a:prstGeom>
          <a:noFill/>
        </p:spPr>
        <p:txBody>
          <a:bodyPr wrap="square" lIns="43200" rIns="43200" tIns="18000" bIns="18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FA기술혁신 Part</a:t>
            </a:r>
          </a:p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(2026.06.12)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16000" y="486000"/>
            <a:ext cx="9468000" cy="0"/>
          </a:xfrm>
          <a:prstGeom prst="line">
            <a:avLst/>
          </a:prstGeom>
          <a:ln w="952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216000" y="5760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자주 묻는 질문 — 대부분 한 문장이면 해결됩니다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16000" y="828000"/>
          <a:ext cx="9468000" cy="196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6000"/>
                <a:gridCol w="5652000"/>
              </a:tblGrid>
              <a:tr h="280800"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질문 / 증상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해결</a:t>
                      </a:r>
                    </a:p>
                  </a:txBody>
                  <a:tcPr marL="36000" marR="36000" marT="10800" marB="10800">
                    <a:solidFill>
                      <a:srgbClr val="C0C0C0"/>
                    </a:solidFill>
                  </a:tcPr>
                </a:tc>
              </a:tr>
              <a:tr h="2808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영어로 써야 하나요? 명령어 외워야 하나요?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아니요 — 전부 한국어 평소 말투, 외울 명령어 없음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"작업 완료 차단 (missing_citations)" 표시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출처 인용 누락 — "누락된 출처를 추가해줘" 한마디면 해결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이어간 세션에서 AI 팀원이 사라짐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"팀원을 다시 생성해줘" — 같은 구성으로 재생성 (알려진 제한)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PPT 일부 칸이 빈 채로 나옴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근거 없는 칸은 추측 대신 비워둠(unfilled) — 값을 알려주고 다시 시키기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새 참고자료를 등록하고 싶음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references/ 폴더에 넣기만 하면 자동 인식 — "이 파일 등록해줘"도 가능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2A2A2A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응답이 멈췄거나 이상함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ea typeface="LG스마트체 Regular"/>
                          <a:cs typeface="LG스마트체 Regular"/>
                          <a:latin typeface="Arial Narrow"/>
                        </a:rPr>
                        <a:t>Esc(정지) 후 재지시 · 새 세션에서 "아까 하던 ○○ 이어서 해줘"</a:t>
                      </a:r>
                    </a:p>
                  </a:txBody>
                  <a:tcPr marL="43200" marR="36000" marT="10800" marB="1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16000" y="29016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오늘 시작하기 — 3단계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000" y="3160800"/>
            <a:ext cx="9432000" cy="522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① claude.ai/code 로그인 → FA-Agent-common 선택     ② 보조 4 의 첫 명령 복사·붙여넣기     ③ outputs/ 에서 결과 확인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이후에는 치트시트(보조 5)의 문장으로 실제 업무에 바로 적용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3790800"/>
            <a:ext cx="9468000" cy="223200"/>
          </a:xfrm>
          <a:prstGeom prst="rect">
            <a:avLst/>
          </a:prstGeom>
          <a:solidFill>
            <a:srgbClr val="4D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72000" tIns="7200" bIns="7200" wrap="square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ea typeface="LG스마트체 Regular"/>
                <a:cs typeface="LG스마트체 Regular"/>
                <a:latin typeface="Arial Narrow"/>
              </a:rPr>
              <a:t>도움이 필요하면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4000" y="4049999"/>
            <a:ext cx="9432000" cy="522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관리자 문의 (담당자 연락처는 가이드 기입란에 추가 예정 — 자료 미확인) · 공식 문서(한국어) code.claude.com/docs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000000"/>
                </a:solidFill>
                <a:ea typeface="LG스마트체 Regular"/>
                <a:cs typeface="LG스마트체 Regular"/>
                <a:latin typeface="Arial Narrow"/>
              </a:rPr>
              <a:t> • 전체 상세 내용은 저장소의 「온보딩_가이드.md」 — 배포용 Word 사본 outputs/FA-Agent_온보딩_가이드_*.docx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" y="6606000"/>
            <a:ext cx="9468000" cy="198000"/>
          </a:xfrm>
          <a:prstGeom prst="rect">
            <a:avLst/>
          </a:prstGeom>
          <a:noFill/>
        </p:spPr>
        <p:txBody>
          <a:bodyPr wrap="square" lIns="43200" rIns="43200" tIns="18000" bIns="18000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006600"/>
                </a:solidFill>
                <a:ea typeface="LG스마트체 Regular"/>
                <a:cs typeface="LG스마트체 Regular"/>
                <a:latin typeface="Arial Narrow"/>
              </a:rPr>
              <a:t>* 출처 : 온보딩_가이드.md §8~10 · CLAUDE.md "트러블슈팅" (/resume 팀원 복원·인용 차단·인덱스 갱신)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